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5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ELCOME-1-001.jpg"/>
          <p:cNvPicPr>
            <a:picLocks noChangeAspect="1"/>
          </p:cNvPicPr>
          <p:nvPr/>
        </p:nvPicPr>
        <p:blipFill>
          <a:blip r:embed="rId2"/>
          <a:srcRect l="3000" r="3000"/>
          <a:stretch>
            <a:fillRect/>
          </a:stretch>
        </p:blipFill>
        <p:spPr>
          <a:xfrm>
            <a:off x="6720840" y="0"/>
            <a:ext cx="546811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WELCOME-1-001.jpg"/>
          <p:cNvPicPr>
            <a:picLocks noChangeAspect="1"/>
          </p:cNvPicPr>
          <p:nvPr/>
        </p:nvPicPr>
        <p:blipFill>
          <a:blip r:embed="rId2"/>
          <a:srcRect l="3000" r="3000"/>
          <a:stretch>
            <a:fillRect/>
          </a:stretch>
        </p:blipFill>
        <p:spPr>
          <a:xfrm>
            <a:off x="6492240" y="347472"/>
            <a:ext cx="5074920" cy="6172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685800"/>
            <a:ext cx="1920240" cy="329184"/>
          </a:xfrm>
          <a:prstGeom prst="roundRect">
            <a:avLst/>
          </a:prstGeom>
          <a:solidFill>
            <a:srgbClr val="E8F5FF"/>
          </a:solidFill>
          <a:ln w="12700">
            <a:solidFill>
              <a:srgbClr val="BE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754380"/>
            <a:ext cx="1700784" cy="146304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900" b="1">
                <a:solidFill>
                  <a:srgbClr val="126FB5"/>
                </a:solidFill>
                <a:latin typeface="Malgun Gothic"/>
              </a:rPr>
              <a:t>제주 신뢰도 분석 서비스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5303520" cy="12801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4400" b="1">
                <a:solidFill>
                  <a:srgbClr val="111318"/>
                </a:solidFill>
                <a:latin typeface="Malgun Gothic"/>
              </a:rPr>
              <a:t>가치봄 제주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40280"/>
            <a:ext cx="525780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2200" b="1">
                <a:solidFill>
                  <a:srgbClr val="0B3F78"/>
                </a:solidFill>
                <a:latin typeface="Malgun Gothic"/>
              </a:rPr>
              <a:t>접근성 여행 정보를 믿을 수 있게 분석하는 서비스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82696"/>
            <a:ext cx="82296" cy="82296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3209544"/>
            <a:ext cx="4919472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500" b="0">
                <a:solidFill>
                  <a:srgbClr val="111318"/>
                </a:solidFill>
                <a:latin typeface="Malgun Gothic"/>
              </a:rPr>
              <a:t>gpt-5-mini 고정 · RAG · 출처 대조 · 검증 게이트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39896"/>
            <a:ext cx="82296" cy="82296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3666744"/>
            <a:ext cx="4919472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500" b="0">
                <a:solidFill>
                  <a:srgbClr val="111318"/>
                </a:solidFill>
                <a:latin typeface="Malgun Gothic"/>
              </a:rPr>
              <a:t>제주 접근성 여행지와 공식 추천코스 기반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97096"/>
            <a:ext cx="82296" cy="82296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4123944"/>
            <a:ext cx="4919472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500" b="0">
                <a:solidFill>
                  <a:srgbClr val="111318"/>
                </a:solidFill>
                <a:latin typeface="Malgun Gothic"/>
              </a:rPr>
              <a:t>팀 역할: 기획/데이터 · AI/RAG · 프론트/배포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172200"/>
            <a:ext cx="45720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100" b="0">
                <a:solidFill>
                  <a:srgbClr val="5B6676"/>
                </a:solidFill>
                <a:latin typeface="Malgun Gothic"/>
              </a:rPr>
              <a:t>런케이션 해커톤 발표 자료 · 2026.07.09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4183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2900" b="1">
                <a:solidFill>
                  <a:srgbClr val="111318"/>
                </a:solidFill>
                <a:latin typeface="Malgun Gothic"/>
              </a:rPr>
              <a:t>문제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93268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200" b="0">
                <a:solidFill>
                  <a:srgbClr val="5B6676"/>
                </a:solidFill>
                <a:latin typeface="Malgun Gothic"/>
              </a:rPr>
              <a:t>여행 정보는 많지만, 접근성 정보는 믿기 어렵다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332720" cy="0"/>
          </a:xfrm>
          <a:prstGeom prst="line">
            <a:avLst/>
          </a:prstGeom>
          <a:ln w="12700">
            <a:solidFill>
              <a:srgbClr val="DE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3337560"/>
          </a:xfrm>
          <a:prstGeom prst="roundRect">
            <a:avLst/>
          </a:prstGeom>
          <a:solidFill>
            <a:srgbClr val="E8F5FF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874519"/>
            <a:ext cx="283464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2200" b="1">
                <a:solidFill>
                  <a:srgbClr val="111318"/>
                </a:solidFill>
                <a:latin typeface="Malgun Gothic"/>
              </a:rPr>
              <a:t>정보 과잉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606040"/>
            <a:ext cx="2743200" cy="1371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600" b="0">
                <a:solidFill>
                  <a:srgbClr val="5B6676"/>
                </a:solidFill>
                <a:latin typeface="Malgun Gothic"/>
              </a:rPr>
              <a:t>후기·블로그·광고성 정보가 섞여 실제 방문 가능성을 판단하기 어렵다.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00200"/>
            <a:ext cx="3337560" cy="3337560"/>
          </a:xfrm>
          <a:prstGeom prst="roundRect">
            <a:avLst/>
          </a:prstGeom>
          <a:solidFill>
            <a:srgbClr val="E1F7F3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9432" y="1874519"/>
            <a:ext cx="283464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2200" b="1">
                <a:solidFill>
                  <a:srgbClr val="111318"/>
                </a:solidFill>
                <a:latin typeface="Malgun Gothic"/>
              </a:rPr>
              <a:t>출처 불명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2606040"/>
            <a:ext cx="2743200" cy="1371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600" b="0">
                <a:solidFill>
                  <a:srgbClr val="5B6676"/>
                </a:solidFill>
                <a:latin typeface="Malgun Gothic"/>
              </a:rPr>
              <a:t>장애인 화장실, 주차, 경사, 휴식 공간 정보의 출처와 최신성이 불분명하다.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600200"/>
            <a:ext cx="3337560" cy="3337560"/>
          </a:xfrm>
          <a:prstGeom prst="roundRect">
            <a:avLst/>
          </a:prstGeom>
          <a:solidFill>
            <a:srgbClr val="FFF6E6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02751" y="1874519"/>
            <a:ext cx="283464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2200" b="1">
                <a:solidFill>
                  <a:srgbClr val="111318"/>
                </a:solidFill>
                <a:latin typeface="Malgun Gothic"/>
              </a:rPr>
              <a:t>사용자 조건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1" y="2606040"/>
            <a:ext cx="2743200" cy="1371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600" b="0">
                <a:solidFill>
                  <a:srgbClr val="5B6676"/>
                </a:solidFill>
                <a:latin typeface="Malgun Gothic"/>
              </a:rPr>
              <a:t>휠체어·회복기·아이 동반·날씨 민감·음식 제한은 같은 추천으로 해결되지 않는다.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559552"/>
            <a:ext cx="1024128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2000" b="1">
                <a:solidFill>
                  <a:srgbClr val="0B3F78"/>
                </a:solidFill>
                <a:latin typeface="Malgun Gothic"/>
              </a:rPr>
              <a:t>우리는 ‘좋은 장소 추천’보다 먼저, 이 정보가 추천 근거로 쓸 만큼 믿을 만한지 분석한다.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65392"/>
            <a:ext cx="59436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800" b="0">
                <a:solidFill>
                  <a:srgbClr val="78808C"/>
                </a:solidFill>
                <a:latin typeface="Malgun Gothic"/>
              </a:rPr>
              <a:t>가치봄 제주 · 런케이션 해커톤 · 신뢰도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565392"/>
            <a:ext cx="457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r"/>
            <a:r>
              <a:rPr sz="800" b="1">
                <a:solidFill>
                  <a:srgbClr val="126FB5"/>
                </a:solidFill>
                <a:latin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4183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2900" b="1">
                <a:solidFill>
                  <a:srgbClr val="111318"/>
                </a:solidFill>
                <a:latin typeface="Malgun Gothic"/>
              </a:rPr>
              <a:t>도메인과 사용자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93268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200" b="0">
                <a:solidFill>
                  <a:srgbClr val="5B6676"/>
                </a:solidFill>
                <a:latin typeface="Malgun Gothic"/>
              </a:rPr>
              <a:t>제주 접근성 여행지 · 상황별 코스 신뢰도 분석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332720" cy="0"/>
          </a:xfrm>
          <a:prstGeom prst="line">
            <a:avLst/>
          </a:prstGeom>
          <a:ln w="12700">
            <a:solidFill>
              <a:srgbClr val="DE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SAMSUNGHYEOL-1-001.jpg"/>
          <p:cNvPicPr>
            <a:picLocks noChangeAspect="1"/>
          </p:cNvPicPr>
          <p:nvPr/>
        </p:nvPicPr>
        <p:blipFill>
          <a:blip r:embed="rId2"/>
          <a:srcRect l="3000" r="3000"/>
          <a:stretch>
            <a:fillRect/>
          </a:stretch>
        </p:blipFill>
        <p:spPr>
          <a:xfrm>
            <a:off x="685800" y="1508760"/>
            <a:ext cx="3840480" cy="4160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892040" y="1444752"/>
            <a:ext cx="29718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56631" y="1563624"/>
            <a:ext cx="13716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500" b="1">
                <a:solidFill>
                  <a:srgbClr val="111318"/>
                </a:solidFill>
                <a:latin typeface="Malgun Gothic"/>
              </a:rPr>
              <a:t>회복 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56631" y="1874519"/>
            <a:ext cx="246888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000" b="0">
                <a:solidFill>
                  <a:srgbClr val="5B6676"/>
                </a:solidFill>
                <a:latin typeface="Malgun Gothic"/>
              </a:rPr>
              <a:t>무리 없는 일정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59" y="1444752"/>
            <a:ext cx="29718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2751" y="1563624"/>
            <a:ext cx="13716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500" b="1">
                <a:solidFill>
                  <a:srgbClr val="111318"/>
                </a:solidFill>
                <a:latin typeface="Malgun Gothic"/>
              </a:rPr>
              <a:t>휠체어 접근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1" y="1874519"/>
            <a:ext cx="246888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000" b="0">
                <a:solidFill>
                  <a:srgbClr val="5B6676"/>
                </a:solidFill>
                <a:latin typeface="Malgun Gothic"/>
              </a:rPr>
              <a:t>경사·엘리베이터·주차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2587752"/>
            <a:ext cx="29718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56631" y="2706624"/>
            <a:ext cx="13716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500" b="1">
                <a:solidFill>
                  <a:srgbClr val="111318"/>
                </a:solidFill>
                <a:latin typeface="Malgun Gothic"/>
              </a:rPr>
              <a:t>아이 동반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1" y="3017520"/>
            <a:ext cx="246888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000" b="0">
                <a:solidFill>
                  <a:srgbClr val="5B6676"/>
                </a:solidFill>
                <a:latin typeface="Malgun Gothic"/>
              </a:rPr>
              <a:t>유모차·휴식 동선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2587752"/>
            <a:ext cx="29718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02751" y="2706624"/>
            <a:ext cx="13716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500" b="1">
                <a:solidFill>
                  <a:srgbClr val="111318"/>
                </a:solidFill>
                <a:latin typeface="Malgun Gothic"/>
              </a:rPr>
              <a:t>날씨 민감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1" y="3017520"/>
            <a:ext cx="246888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000" b="0">
                <a:solidFill>
                  <a:srgbClr val="5B6676"/>
                </a:solidFill>
                <a:latin typeface="Malgun Gothic"/>
              </a:rPr>
              <a:t>실내/실외 리스크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3730752"/>
            <a:ext cx="29718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56631" y="3849624"/>
            <a:ext cx="13716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500" b="1">
                <a:solidFill>
                  <a:srgbClr val="111318"/>
                </a:solidFill>
                <a:latin typeface="Malgun Gothic"/>
              </a:rPr>
              <a:t>음식 제한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1" y="4160520"/>
            <a:ext cx="246888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000" b="0">
                <a:solidFill>
                  <a:srgbClr val="5B6676"/>
                </a:solidFill>
                <a:latin typeface="Malgun Gothic"/>
              </a:rPr>
              <a:t>식당·시장 제외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4983480"/>
            <a:ext cx="6355080" cy="822960"/>
          </a:xfrm>
          <a:prstGeom prst="roundRect">
            <a:avLst/>
          </a:prstGeom>
          <a:solidFill>
            <a:srgbClr val="E8F5FF"/>
          </a:solidFill>
          <a:ln w="12700">
            <a:solidFill>
              <a:srgbClr val="BE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0640" y="5157216"/>
            <a:ext cx="594360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500" b="1">
                <a:solidFill>
                  <a:srgbClr val="0B3F78"/>
                </a:solidFill>
                <a:latin typeface="Malgun Gothic"/>
              </a:rPr>
              <a:t>핵심 질문: 추천해도 되는가 · 왜 추천하는가 · 방문 전 무엇을 확인해야 하는가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65392"/>
            <a:ext cx="59436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800" b="0">
                <a:solidFill>
                  <a:srgbClr val="78808C"/>
                </a:solidFill>
                <a:latin typeface="Malgun Gothic"/>
              </a:rPr>
              <a:t>가치봄 제주 · 런케이션 해커톤 · 신뢰도 분석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565392"/>
            <a:ext cx="457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r"/>
            <a:r>
              <a:rPr sz="800" b="1">
                <a:solidFill>
                  <a:srgbClr val="126FB5"/>
                </a:solidFill>
                <a:latin typeface="Malgun Gothi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4183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2900" b="1">
                <a:solidFill>
                  <a:srgbClr val="111318"/>
                </a:solidFill>
                <a:latin typeface="Malgun Gothic"/>
              </a:rPr>
              <a:t>사용자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93268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200" b="0">
                <a:solidFill>
                  <a:srgbClr val="5B6676"/>
                </a:solidFill>
                <a:latin typeface="Malgun Gothic"/>
              </a:rPr>
              <a:t>컨셉 선택에서 근거 확인까지 한 번에 이어지는 서비스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332720" cy="0"/>
          </a:xfrm>
          <a:prstGeom prst="line">
            <a:avLst/>
          </a:prstGeom>
          <a:ln w="12700">
            <a:solidFill>
              <a:srgbClr val="DE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22960" y="1828800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7552" y="1993392"/>
            <a:ext cx="438912" cy="438912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084831"/>
            <a:ext cx="438912" cy="16459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651760"/>
            <a:ext cx="17373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700" b="1">
                <a:solidFill>
                  <a:srgbClr val="111318"/>
                </a:solidFill>
                <a:latin typeface="Malgun Gothic"/>
              </a:rPr>
              <a:t>컨셉 선택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063240"/>
            <a:ext cx="17373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100" b="0">
                <a:solidFill>
                  <a:srgbClr val="5B6676"/>
                </a:solidFill>
                <a:latin typeface="Malgun Gothic"/>
              </a:rPr>
              <a:t>현재 여행 조건을 먼저 고른다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71800" y="2926080"/>
            <a:ext cx="457200" cy="0"/>
          </a:xfrm>
          <a:prstGeom prst="line">
            <a:avLst/>
          </a:prstGeom>
          <a:ln w="25400">
            <a:solidFill>
              <a:srgbClr val="126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66160" y="1828800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30752" y="1993392"/>
            <a:ext cx="438912" cy="438912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30752" y="2084831"/>
            <a:ext cx="438912" cy="16459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2651760"/>
            <a:ext cx="17373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700" b="1">
                <a:solidFill>
                  <a:srgbClr val="111318"/>
                </a:solidFill>
                <a:latin typeface="Malgun Gothic"/>
              </a:rPr>
              <a:t>후보 필터링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3063240"/>
            <a:ext cx="17373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100" b="0">
                <a:solidFill>
                  <a:srgbClr val="5B6676"/>
                </a:solidFill>
                <a:latin typeface="Malgun Gothic"/>
              </a:rPr>
              <a:t>공개 가능 데이터와 제외 조건 적용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15000" y="2926080"/>
            <a:ext cx="457200" cy="0"/>
          </a:xfrm>
          <a:prstGeom prst="line">
            <a:avLst/>
          </a:prstGeom>
          <a:ln w="25400">
            <a:solidFill>
              <a:srgbClr val="126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09360" y="1828800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73952" y="1993392"/>
            <a:ext cx="438912" cy="438912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3952" y="2084831"/>
            <a:ext cx="438912" cy="16459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651760"/>
            <a:ext cx="17373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700" b="1">
                <a:solidFill>
                  <a:srgbClr val="111318"/>
                </a:solidFill>
                <a:latin typeface="Malgun Gothic"/>
              </a:rPr>
              <a:t>신뢰도 계산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063240"/>
            <a:ext cx="17373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100" b="0">
                <a:solidFill>
                  <a:srgbClr val="5B6676"/>
                </a:solidFill>
                <a:latin typeface="Malgun Gothic"/>
              </a:rPr>
              <a:t>출처·시설·동선·안전 기준 점수화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58200" y="2926080"/>
            <a:ext cx="457200" cy="0"/>
          </a:xfrm>
          <a:prstGeom prst="line">
            <a:avLst/>
          </a:prstGeom>
          <a:ln w="25400">
            <a:solidFill>
              <a:srgbClr val="126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52560" y="1828800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217152" y="1993392"/>
            <a:ext cx="438912" cy="438912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17152" y="2084831"/>
            <a:ext cx="438912" cy="16459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2651760"/>
            <a:ext cx="17373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700" b="1">
                <a:solidFill>
                  <a:srgbClr val="111318"/>
                </a:solidFill>
                <a:latin typeface="Malgun Gothic"/>
              </a:rPr>
              <a:t>근거 제공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3063240"/>
            <a:ext cx="17373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100" b="0">
                <a:solidFill>
                  <a:srgbClr val="5B6676"/>
                </a:solidFill>
                <a:latin typeface="Malgun Gothic"/>
              </a:rPr>
              <a:t>지도·코스·출처·확인 항목 표시</a:t>
            </a:r>
          </a:p>
        </p:txBody>
      </p:sp>
      <p:pic>
        <p:nvPicPr>
          <p:cNvPr id="28" name="Picture 27" descr="gachibom-concept-page-fixed-v52-20260709.png"/>
          <p:cNvPicPr>
            <a:picLocks noChangeAspect="1"/>
          </p:cNvPicPr>
          <p:nvPr/>
        </p:nvPicPr>
        <p:blipFill>
          <a:blip r:embed="rId2"/>
          <a:srcRect l="3000" r="3000"/>
          <a:stretch>
            <a:fillRect/>
          </a:stretch>
        </p:blipFill>
        <p:spPr>
          <a:xfrm>
            <a:off x="777834" y="4114800"/>
            <a:ext cx="10606446" cy="301038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94360" y="6565392"/>
            <a:ext cx="59436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800" b="0">
                <a:solidFill>
                  <a:srgbClr val="78808C"/>
                </a:solidFill>
                <a:latin typeface="Malgun Gothic"/>
              </a:rPr>
              <a:t>가치봄 제주 · 런케이션 해커톤 · 신뢰도 분석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565392"/>
            <a:ext cx="457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r"/>
            <a:r>
              <a:rPr sz="800" b="1">
                <a:solidFill>
                  <a:srgbClr val="126FB5"/>
                </a:solidFill>
                <a:latin typeface="Malgun Gothi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4183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2900" b="1">
                <a:solidFill>
                  <a:srgbClr val="111318"/>
                </a:solidFill>
                <a:latin typeface="Malgun Gothic"/>
              </a:rPr>
              <a:t>데이터 확보와 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93268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200" b="0">
                <a:solidFill>
                  <a:srgbClr val="5B6676"/>
                </a:solidFill>
                <a:latin typeface="Malgun Gothic"/>
              </a:rPr>
              <a:t>모델의 ‘감’이 아니라 출처 데이터와 대조한다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332720" cy="0"/>
          </a:xfrm>
          <a:prstGeom prst="line">
            <a:avLst/>
          </a:prstGeom>
          <a:ln w="12700">
            <a:solidFill>
              <a:srgbClr val="DE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417320"/>
            <a:ext cx="1874519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554480"/>
            <a:ext cx="1545336" cy="4572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3000" b="1">
                <a:solidFill>
                  <a:srgbClr val="126FB5"/>
                </a:solidFill>
                <a:latin typeface="Malgun Gothic"/>
              </a:rPr>
              <a:t>91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121408"/>
            <a:ext cx="1545336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1000" b="1">
                <a:solidFill>
                  <a:srgbClr val="5B6676"/>
                </a:solidFill>
                <a:latin typeface="Malgun Gothic"/>
              </a:rPr>
              <a:t>장소 카드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417320"/>
            <a:ext cx="1874519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99232" y="1554480"/>
            <a:ext cx="1545336" cy="4572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3000" b="1">
                <a:solidFill>
                  <a:srgbClr val="126FB5"/>
                </a:solidFill>
                <a:latin typeface="Malgun Gothic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2121408"/>
            <a:ext cx="1545336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1000" b="1">
                <a:solidFill>
                  <a:srgbClr val="5B6676"/>
                </a:solidFill>
                <a:latin typeface="Malgun Gothic"/>
              </a:rPr>
              <a:t>공식 추천코스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417320"/>
            <a:ext cx="1874519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39512" y="1554480"/>
            <a:ext cx="1545336" cy="4572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3000" b="1">
                <a:solidFill>
                  <a:srgbClr val="126FB5"/>
                </a:solidFill>
                <a:latin typeface="Malgun Gothic"/>
              </a:rPr>
              <a:t>62/62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9512" y="2121408"/>
            <a:ext cx="1545336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1000" b="1">
                <a:solidFill>
                  <a:srgbClr val="5B6676"/>
                </a:solidFill>
                <a:latin typeface="Malgun Gothic"/>
              </a:rPr>
              <a:t>코스 슬롯 매칭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417320"/>
            <a:ext cx="1874519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79792" y="1554480"/>
            <a:ext cx="1545336" cy="4572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3000" b="1">
                <a:solidFill>
                  <a:srgbClr val="126FB5"/>
                </a:solidFill>
                <a:latin typeface="Malgun Gothic"/>
              </a:rPr>
              <a:t>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792" y="2121408"/>
            <a:ext cx="1545336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1000" b="1">
                <a:solidFill>
                  <a:srgbClr val="5B6676"/>
                </a:solidFill>
                <a:latin typeface="Malgun Gothic"/>
              </a:rPr>
              <a:t>매칭 장소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1417320"/>
            <a:ext cx="1874519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20072" y="1554480"/>
            <a:ext cx="1545336" cy="4572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3000" b="1">
                <a:solidFill>
                  <a:srgbClr val="126FB5"/>
                </a:solidFill>
                <a:latin typeface="Malgun Gothic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72" y="2121408"/>
            <a:ext cx="1545336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1000" b="1">
                <a:solidFill>
                  <a:srgbClr val="5B6676"/>
                </a:solidFill>
                <a:latin typeface="Malgun Gothic"/>
              </a:rPr>
              <a:t>미매칭 장소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154680"/>
            <a:ext cx="5074920" cy="2148840"/>
          </a:xfrm>
          <a:prstGeom prst="roundRect">
            <a:avLst/>
          </a:prstGeom>
          <a:solidFill>
            <a:srgbClr val="E1F7F3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3429000"/>
            <a:ext cx="4389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800" b="1">
                <a:solidFill>
                  <a:srgbClr val="111318"/>
                </a:solidFill>
                <a:latin typeface="Malgun Gothic"/>
              </a:rPr>
              <a:t>제주관광공사 추천여행코스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8992" y="4014215"/>
            <a:ext cx="82296" cy="82296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80160" y="3941063"/>
            <a:ext cx="4279392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200" b="0">
                <a:solidFill>
                  <a:srgbClr val="111318"/>
                </a:solidFill>
                <a:latin typeface="Malgun Gothic"/>
              </a:rPr>
              <a:t>관광 약자 유형별 제주관광 추천코스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8992" y="4361688"/>
            <a:ext cx="82296" cy="82296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4288536"/>
            <a:ext cx="4279392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200" b="0">
                <a:solidFill>
                  <a:srgbClr val="111318"/>
                </a:solidFill>
                <a:latin typeface="Malgun Gothic"/>
              </a:rPr>
              <a:t>16개 코스, 62개 장소 슬롯 처리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78992" y="4709159"/>
            <a:ext cx="82296" cy="82296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80160" y="4636007"/>
            <a:ext cx="4279392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200" b="0">
                <a:solidFill>
                  <a:srgbClr val="111318"/>
                </a:solidFill>
                <a:latin typeface="Malgun Gothic"/>
              </a:rPr>
              <a:t>기존 카드 매칭 + 신규 후보 승급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154680"/>
            <a:ext cx="5074920" cy="2148840"/>
          </a:xfrm>
          <a:prstGeom prst="roundRect">
            <a:avLst/>
          </a:prstGeom>
          <a:solidFill>
            <a:srgbClr val="E8F5FF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3429000"/>
            <a:ext cx="4389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800" b="1">
                <a:solidFill>
                  <a:srgbClr val="111318"/>
                </a:solidFill>
                <a:latin typeface="Malgun Gothic"/>
              </a:rPr>
              <a:t>로드뷰 시각 검수 근거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19672" y="4014215"/>
            <a:ext cx="82296" cy="82296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20840" y="3941063"/>
            <a:ext cx="4279392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200" b="0">
                <a:solidFill>
                  <a:srgbClr val="111318"/>
                </a:solidFill>
                <a:latin typeface="Malgun Gothic"/>
              </a:rPr>
              <a:t>서비스 시드 17곳, 검수 필드 68개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19672" y="4361688"/>
            <a:ext cx="82296" cy="82296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20840" y="4288536"/>
            <a:ext cx="4279392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200" b="0">
                <a:solidFill>
                  <a:srgbClr val="111318"/>
                </a:solidFill>
                <a:latin typeface="Malgun Gothic"/>
              </a:rPr>
              <a:t>1,023장 중 953장 확보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19672" y="4709159"/>
            <a:ext cx="82296" cy="82296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20840" y="4636007"/>
            <a:ext cx="4279392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200" b="0">
                <a:solidFill>
                  <a:srgbClr val="111318"/>
                </a:solidFill>
                <a:latin typeface="Malgun Gothic"/>
              </a:rPr>
              <a:t>70장은 제공기관 404 복구 요청 대상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65392"/>
            <a:ext cx="59436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800" b="0">
                <a:solidFill>
                  <a:srgbClr val="78808C"/>
                </a:solidFill>
                <a:latin typeface="Malgun Gothic"/>
              </a:rPr>
              <a:t>가치봄 제주 · 런케이션 해커톤 · 신뢰도 분석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565392"/>
            <a:ext cx="457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r"/>
            <a:r>
              <a:rPr sz="800" b="1">
                <a:solidFill>
                  <a:srgbClr val="126FB5"/>
                </a:solidFill>
                <a:latin typeface="Malgun Gothi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4183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2900" b="1">
                <a:solidFill>
                  <a:srgbClr val="111318"/>
                </a:solidFill>
                <a:latin typeface="Malgun Gothic"/>
              </a:rPr>
              <a:t>gpt-5-mini + RAG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93268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200" b="0">
                <a:solidFill>
                  <a:srgbClr val="5B6676"/>
                </a:solidFill>
                <a:latin typeface="Malgun Gothic"/>
              </a:rPr>
              <a:t>모델은 하나, 신뢰도는 근거 조립과 검증으로 끌어올린다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332720" cy="0"/>
          </a:xfrm>
          <a:prstGeom prst="line">
            <a:avLst/>
          </a:prstGeom>
          <a:ln w="12700">
            <a:solidFill>
              <a:srgbClr val="DE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85800" y="1600200"/>
            <a:ext cx="24231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856231"/>
            <a:ext cx="201168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600" b="1">
                <a:solidFill>
                  <a:srgbClr val="0B3F78"/>
                </a:solidFill>
                <a:latin typeface="Malgun Gothic"/>
              </a:rPr>
              <a:t>근거 저장소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87168"/>
            <a:ext cx="82296" cy="82296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2414016"/>
            <a:ext cx="1764792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000" b="0">
                <a:solidFill>
                  <a:srgbClr val="111318"/>
                </a:solidFill>
                <a:latin typeface="Malgun Gothic"/>
              </a:rPr>
              <a:t>장소 카드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871216"/>
            <a:ext cx="82296" cy="82296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798064"/>
            <a:ext cx="1764792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000" b="0">
                <a:solidFill>
                  <a:srgbClr val="111318"/>
                </a:solidFill>
                <a:latin typeface="Malgun Gothic"/>
              </a:rPr>
              <a:t>상황별 규칙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55264"/>
            <a:ext cx="82296" cy="82296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3182112"/>
            <a:ext cx="1764792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000" b="0">
                <a:solidFill>
                  <a:srgbClr val="111318"/>
                </a:solidFill>
                <a:latin typeface="Malgun Gothic"/>
              </a:rPr>
              <a:t>공식 코스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39312"/>
            <a:ext cx="82296" cy="82296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566160"/>
            <a:ext cx="1764792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000" b="0">
                <a:solidFill>
                  <a:srgbClr val="111318"/>
                </a:solidFill>
                <a:latin typeface="Malgun Gothic"/>
              </a:rPr>
              <a:t>출처 요약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08960" y="3154680"/>
            <a:ext cx="338328" cy="0"/>
          </a:xfrm>
          <a:prstGeom prst="line">
            <a:avLst/>
          </a:prstGeom>
          <a:ln w="25400">
            <a:solidFill>
              <a:srgbClr val="128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502152" y="1600200"/>
            <a:ext cx="24231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66744" y="1856231"/>
            <a:ext cx="201168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600" b="1">
                <a:solidFill>
                  <a:srgbClr val="0B3F78"/>
                </a:solidFill>
                <a:latin typeface="Malgun Gothic"/>
              </a:rPr>
              <a:t>RAG/프롬프트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30752" y="2487168"/>
            <a:ext cx="82296" cy="82296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31920" y="2414016"/>
            <a:ext cx="1764792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000" b="0">
                <a:solidFill>
                  <a:srgbClr val="111318"/>
                </a:solidFill>
                <a:latin typeface="Malgun Gothic"/>
              </a:rPr>
              <a:t>조건별 관련 근거 검색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30752" y="2871216"/>
            <a:ext cx="82296" cy="82296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31920" y="2798064"/>
            <a:ext cx="1764792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000" b="0">
                <a:solidFill>
                  <a:srgbClr val="111318"/>
                </a:solidFill>
                <a:latin typeface="Malgun Gothic"/>
              </a:rPr>
              <a:t>추천/감점 이유 분리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30752" y="3255264"/>
            <a:ext cx="82296" cy="82296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31920" y="3182112"/>
            <a:ext cx="1764792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000" b="0">
                <a:solidFill>
                  <a:srgbClr val="111318"/>
                </a:solidFill>
                <a:latin typeface="Malgun Gothic"/>
              </a:rPr>
              <a:t>방문 전 확인 항목 생성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25312" y="3154680"/>
            <a:ext cx="338328" cy="0"/>
          </a:xfrm>
          <a:prstGeom prst="line">
            <a:avLst/>
          </a:prstGeom>
          <a:ln w="25400">
            <a:solidFill>
              <a:srgbClr val="128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18504" y="1600200"/>
            <a:ext cx="24231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83096" y="1856231"/>
            <a:ext cx="201168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600" b="1">
                <a:solidFill>
                  <a:srgbClr val="0B3F78"/>
                </a:solidFill>
                <a:latin typeface="Malgun Gothic"/>
              </a:rPr>
              <a:t>검증 게이트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47104" y="2487168"/>
            <a:ext cx="82296" cy="82296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48272" y="2414016"/>
            <a:ext cx="1764792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000" b="0">
                <a:solidFill>
                  <a:srgbClr val="111318"/>
                </a:solidFill>
                <a:latin typeface="Malgun Gothic"/>
              </a:rPr>
              <a:t>스키마 검증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47104" y="2871216"/>
            <a:ext cx="82296" cy="82296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48272" y="2798064"/>
            <a:ext cx="1764792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000" b="0">
                <a:solidFill>
                  <a:srgbClr val="111318"/>
                </a:solidFill>
                <a:latin typeface="Malgun Gothic"/>
              </a:rPr>
              <a:t>정책 점수 보정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47104" y="3255264"/>
            <a:ext cx="82296" cy="82296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48272" y="3182112"/>
            <a:ext cx="1764792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000" b="0">
                <a:solidFill>
                  <a:srgbClr val="111318"/>
                </a:solidFill>
                <a:latin typeface="Malgun Gothic"/>
              </a:rPr>
              <a:t>차단/검수대기 제외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741664" y="3154680"/>
            <a:ext cx="338328" cy="0"/>
          </a:xfrm>
          <a:prstGeom prst="line">
            <a:avLst/>
          </a:prstGeom>
          <a:ln w="25400">
            <a:solidFill>
              <a:srgbClr val="128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134856" y="1600200"/>
            <a:ext cx="24231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99448" y="1856231"/>
            <a:ext cx="201168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600" b="1">
                <a:solidFill>
                  <a:srgbClr val="0B3F78"/>
                </a:solidFill>
                <a:latin typeface="Malgun Gothic"/>
              </a:rPr>
              <a:t>서비스 출력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63456" y="2487168"/>
            <a:ext cx="82296" cy="82296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564624" y="2414016"/>
            <a:ext cx="1764792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000" b="0">
                <a:solidFill>
                  <a:srgbClr val="111318"/>
                </a:solidFill>
                <a:latin typeface="Malgun Gothic"/>
              </a:rPr>
              <a:t>지도와 코스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63456" y="2871216"/>
            <a:ext cx="82296" cy="82296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564624" y="2798064"/>
            <a:ext cx="1764792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000" b="0">
                <a:solidFill>
                  <a:srgbClr val="111318"/>
                </a:solidFill>
                <a:latin typeface="Malgun Gothic"/>
              </a:rPr>
              <a:t>장소 상세 근거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63456" y="3255264"/>
            <a:ext cx="82296" cy="82296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564624" y="3182112"/>
            <a:ext cx="1764792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000" b="0">
                <a:solidFill>
                  <a:srgbClr val="111318"/>
                </a:solidFill>
                <a:latin typeface="Malgun Gothic"/>
              </a:rPr>
              <a:t>공식 코스 탭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80560" y="5440680"/>
            <a:ext cx="2926080" cy="329184"/>
          </a:xfrm>
          <a:prstGeom prst="roundRect">
            <a:avLst/>
          </a:prstGeom>
          <a:solidFill>
            <a:srgbClr val="FFD21F"/>
          </a:solidFill>
          <a:ln w="12700">
            <a:solidFill>
              <a:srgbClr val="BE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90288" y="5509260"/>
            <a:ext cx="2706624" cy="146304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900" b="1">
                <a:solidFill>
                  <a:srgbClr val="111318"/>
                </a:solidFill>
                <a:latin typeface="Malgun Gothic"/>
              </a:rPr>
              <a:t>고정 모델: gpt-5-mini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565392"/>
            <a:ext cx="59436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800" b="0">
                <a:solidFill>
                  <a:srgbClr val="78808C"/>
                </a:solidFill>
                <a:latin typeface="Malgun Gothic"/>
              </a:rPr>
              <a:t>가치봄 제주 · 런케이션 해커톤 · 신뢰도 분석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09960" y="6565392"/>
            <a:ext cx="457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r"/>
            <a:r>
              <a:rPr sz="800" b="1">
                <a:solidFill>
                  <a:srgbClr val="126FB5"/>
                </a:solidFill>
                <a:latin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4183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2900" b="1">
                <a:solidFill>
                  <a:srgbClr val="111318"/>
                </a:solidFill>
                <a:latin typeface="Malgun Gothic"/>
              </a:rPr>
              <a:t>신뢰도 점수 정책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93268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200" b="0">
                <a:solidFill>
                  <a:srgbClr val="5B6676"/>
                </a:solidFill>
                <a:latin typeface="Malgun Gothic"/>
              </a:rPr>
              <a:t>추천 점수는 ‘잘 맞음’과 ‘근거 명확성’을 함께 본다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332720" cy="0"/>
          </a:xfrm>
          <a:prstGeom prst="line">
            <a:avLst/>
          </a:prstGeom>
          <a:ln w="12700">
            <a:solidFill>
              <a:srgbClr val="DE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508760"/>
            <a:ext cx="192024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300" b="1">
                <a:solidFill>
                  <a:srgbClr val="0B3F78"/>
                </a:solidFill>
                <a:latin typeface="Malgun Gothic"/>
              </a:rPr>
              <a:t>source_trust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1545336"/>
            <a:ext cx="5120640" cy="201168"/>
          </a:xfrm>
          <a:prstGeom prst="rect">
            <a:avLst/>
          </a:prstGeom>
          <a:solidFill>
            <a:srgbClr val="E8F5FF"/>
          </a:solidFill>
          <a:ln w="12700">
            <a:solidFill>
              <a:srgbClr val="E8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88920" y="1545336"/>
            <a:ext cx="2651760" cy="201168"/>
          </a:xfrm>
          <a:prstGeom prst="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83879" y="1490472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200" b="0">
                <a:solidFill>
                  <a:srgbClr val="5B6676"/>
                </a:solidFill>
                <a:latin typeface="Malgun Gothic"/>
              </a:rPr>
              <a:t>공식 출처·검수 근거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92024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300" b="1">
                <a:solidFill>
                  <a:srgbClr val="0B3F78"/>
                </a:solidFill>
                <a:latin typeface="Malgun Gothic"/>
              </a:rPr>
              <a:t>mobility_fit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2231136"/>
            <a:ext cx="5120640" cy="201168"/>
          </a:xfrm>
          <a:prstGeom prst="rect">
            <a:avLst/>
          </a:prstGeom>
          <a:solidFill>
            <a:srgbClr val="E8F5FF"/>
          </a:solidFill>
          <a:ln w="12700">
            <a:solidFill>
              <a:srgbClr val="E8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88920" y="2231136"/>
            <a:ext cx="2999232" cy="201168"/>
          </a:xfrm>
          <a:prstGeom prst="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79" y="2176272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200" b="0">
                <a:solidFill>
                  <a:srgbClr val="5B6676"/>
                </a:solidFill>
                <a:latin typeface="Malgun Gothic"/>
              </a:rPr>
              <a:t>도보 부담·계단·경사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80360"/>
            <a:ext cx="192024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300" b="1">
                <a:solidFill>
                  <a:srgbClr val="0B3F78"/>
                </a:solidFill>
                <a:latin typeface="Malgun Gothic"/>
              </a:rPr>
              <a:t>facility_fit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916936"/>
            <a:ext cx="5120640" cy="201168"/>
          </a:xfrm>
          <a:prstGeom prst="rect">
            <a:avLst/>
          </a:prstGeom>
          <a:solidFill>
            <a:srgbClr val="E8F5FF"/>
          </a:solidFill>
          <a:ln w="12700">
            <a:solidFill>
              <a:srgbClr val="E8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88920" y="2916936"/>
            <a:ext cx="3346704" cy="201168"/>
          </a:xfrm>
          <a:prstGeom prst="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79" y="2862072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200" b="0">
                <a:solidFill>
                  <a:srgbClr val="5B6676"/>
                </a:solidFill>
                <a:latin typeface="Malgun Gothic"/>
              </a:rPr>
              <a:t>화장실·주차·엘리베이터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66160"/>
            <a:ext cx="192024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300" b="1">
                <a:solidFill>
                  <a:srgbClr val="0B3F78"/>
                </a:solidFill>
                <a:latin typeface="Malgun Gothic"/>
              </a:rPr>
              <a:t>theme_fit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8920" y="3602736"/>
            <a:ext cx="5120640" cy="201168"/>
          </a:xfrm>
          <a:prstGeom prst="rect">
            <a:avLst/>
          </a:prstGeom>
          <a:solidFill>
            <a:srgbClr val="E8F5FF"/>
          </a:solidFill>
          <a:ln w="12700">
            <a:solidFill>
              <a:srgbClr val="E8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88920" y="3602736"/>
            <a:ext cx="3694176" cy="201168"/>
          </a:xfrm>
          <a:prstGeom prst="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83879" y="3547872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200" b="0">
                <a:solidFill>
                  <a:srgbClr val="5B6676"/>
                </a:solidFill>
                <a:latin typeface="Malgun Gothic"/>
              </a:rPr>
              <a:t>컨셉과 장소 성격 일치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51960"/>
            <a:ext cx="192024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300" b="1">
                <a:solidFill>
                  <a:srgbClr val="0B3F78"/>
                </a:solidFill>
                <a:latin typeface="Malgun Gothic"/>
              </a:rPr>
              <a:t>safety_clarity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88920" y="4288536"/>
            <a:ext cx="5120640" cy="201168"/>
          </a:xfrm>
          <a:prstGeom prst="rect">
            <a:avLst/>
          </a:prstGeom>
          <a:solidFill>
            <a:srgbClr val="E8F5FF"/>
          </a:solidFill>
          <a:ln w="12700">
            <a:solidFill>
              <a:srgbClr val="E8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88920" y="4288536"/>
            <a:ext cx="4041648" cy="201168"/>
          </a:xfrm>
          <a:prstGeom prst="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83879" y="4233672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200" b="0">
                <a:solidFill>
                  <a:srgbClr val="5B6676"/>
                </a:solidFill>
                <a:latin typeface="Malgun Gothic"/>
              </a:rPr>
              <a:t>확인 필요 항목 명시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166360"/>
            <a:ext cx="10469880" cy="685800"/>
          </a:xfrm>
          <a:prstGeom prst="roundRect">
            <a:avLst/>
          </a:prstGeom>
          <a:solidFill>
            <a:srgbClr val="FFF6E6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5358384"/>
            <a:ext cx="99669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1500" b="1">
                <a:solidFill>
                  <a:srgbClr val="111318"/>
                </a:solidFill>
                <a:latin typeface="Malgun Gothic"/>
              </a:rPr>
              <a:t>Exclude first: 음식 제한, 날씨 민감, 차단 장소는 추천 전 단계에서 먼저 제외한다.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65392"/>
            <a:ext cx="59436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800" b="0">
                <a:solidFill>
                  <a:srgbClr val="78808C"/>
                </a:solidFill>
                <a:latin typeface="Malgun Gothic"/>
              </a:rPr>
              <a:t>가치봄 제주 · 런케이션 해커톤 · 신뢰도 분석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65392"/>
            <a:ext cx="457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r"/>
            <a:r>
              <a:rPr sz="800" b="1">
                <a:solidFill>
                  <a:srgbClr val="126FB5"/>
                </a:solidFill>
                <a:latin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4183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2900" b="1">
                <a:solidFill>
                  <a:srgbClr val="111318"/>
                </a:solidFill>
                <a:latin typeface="Malgun Gothic"/>
              </a:rPr>
              <a:t>검증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93268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200" b="0">
                <a:solidFill>
                  <a:srgbClr val="5B6676"/>
                </a:solidFill>
                <a:latin typeface="Malgun Gothic"/>
              </a:rPr>
              <a:t>신뢰성은 원본·출처와 대조한 테스트로 증명한다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332720" cy="0"/>
          </a:xfrm>
          <a:prstGeom prst="line">
            <a:avLst/>
          </a:prstGeom>
          <a:ln w="12700">
            <a:solidFill>
              <a:srgbClr val="DE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508760"/>
            <a:ext cx="2194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645919"/>
            <a:ext cx="1865376" cy="4572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3000" b="1">
                <a:solidFill>
                  <a:srgbClr val="128C83"/>
                </a:solidFill>
                <a:latin typeface="Malgun Gothic"/>
              </a:rPr>
              <a:t>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212848"/>
            <a:ext cx="1865376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1000" b="1">
                <a:solidFill>
                  <a:srgbClr val="5B6676"/>
                </a:solidFill>
                <a:latin typeface="Malgun Gothic"/>
              </a:rPr>
              <a:t>상황별 검증 통과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08760"/>
            <a:ext cx="2194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39312" y="1645919"/>
            <a:ext cx="1865376" cy="4572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3000" b="1">
                <a:solidFill>
                  <a:srgbClr val="126FB5"/>
                </a:solidFill>
                <a:latin typeface="Malgun Gothic"/>
              </a:rPr>
              <a:t>143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212848"/>
            <a:ext cx="1865376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1000" b="1">
                <a:solidFill>
                  <a:srgbClr val="5B6676"/>
                </a:solidFill>
                <a:latin typeface="Malgun Gothic"/>
              </a:rPr>
              <a:t>전체 테스트 통과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2194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645919"/>
            <a:ext cx="1865376" cy="4572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3000" b="1">
                <a:solidFill>
                  <a:srgbClr val="126FB5"/>
                </a:solidFill>
                <a:latin typeface="Malgun Gothic"/>
              </a:rPr>
              <a:t>20/20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212848"/>
            <a:ext cx="1865376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1000" b="1">
                <a:solidFill>
                  <a:srgbClr val="5B6676"/>
                </a:solidFill>
                <a:latin typeface="Malgun Gothic"/>
              </a:rPr>
              <a:t>추천 노출 장소 좌표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508760"/>
            <a:ext cx="2194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25712" y="1645919"/>
            <a:ext cx="1865376" cy="4572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3000" b="1">
                <a:solidFill>
                  <a:srgbClr val="126FB5"/>
                </a:solidFill>
                <a:latin typeface="Malgun Gothic"/>
              </a:rPr>
              <a:t>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5712" y="2212848"/>
            <a:ext cx="1865376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1000" b="1">
                <a:solidFill>
                  <a:srgbClr val="5B6676"/>
                </a:solidFill>
                <a:latin typeface="Malgun Gothic"/>
              </a:rPr>
              <a:t>/api/health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3703320"/>
            <a:ext cx="10149840" cy="1188720"/>
          </a:xfrm>
          <a:prstGeom prst="roundRect">
            <a:avLst/>
          </a:prstGeom>
          <a:solidFill>
            <a:srgbClr val="E8F5FF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234440" y="4005072"/>
            <a:ext cx="82296" cy="82296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35608" y="3931920"/>
            <a:ext cx="9308592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400" b="0">
                <a:solidFill>
                  <a:srgbClr val="111318"/>
                </a:solidFill>
                <a:latin typeface="Malgun Gothic"/>
              </a:rPr>
              <a:t>route_proxy true · tourism_weak_courses true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34440" y="4334256"/>
            <a:ext cx="82296" cy="82296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35608" y="4261104"/>
            <a:ext cx="9308592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400" b="0">
                <a:solidFill>
                  <a:srgbClr val="111318"/>
                </a:solidFill>
                <a:latin typeface="Malgun Gothic"/>
              </a:rPr>
              <a:t>API 오류는 JSON code/error로 반환, 과대 본문은 413 처리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4663440"/>
            <a:ext cx="82296" cy="82296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35608" y="4590288"/>
            <a:ext cx="9308592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400" b="0">
                <a:solidFill>
                  <a:srgbClr val="111318"/>
                </a:solidFill>
                <a:latin typeface="Malgun Gothic"/>
              </a:rPr>
              <a:t>내부 예외 원문과 비밀값은 응답에 노출하지 않음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65392"/>
            <a:ext cx="59436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800" b="0">
                <a:solidFill>
                  <a:srgbClr val="78808C"/>
                </a:solidFill>
                <a:latin typeface="Malgun Gothic"/>
              </a:rPr>
              <a:t>가치봄 제주 · 런케이션 해커톤 · 신뢰도 분석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65392"/>
            <a:ext cx="457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r"/>
            <a:r>
              <a:rPr sz="800" b="1">
                <a:solidFill>
                  <a:srgbClr val="126FB5"/>
                </a:solidFill>
                <a:latin typeface="Malgun Gothi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4183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2900" b="1">
                <a:solidFill>
                  <a:srgbClr val="111318"/>
                </a:solidFill>
                <a:latin typeface="Malgun Gothic"/>
              </a:rPr>
              <a:t>상황별 추천이 실제로 달라진다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93268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200" b="0">
                <a:solidFill>
                  <a:srgbClr val="5B6676"/>
                </a:solidFill>
                <a:latin typeface="Malgun Gothic"/>
              </a:rPr>
              <a:t>동일한 제주라도 사용자 조건에 따라 제외·가점·코스가 바뀐다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332720" cy="0"/>
          </a:xfrm>
          <a:prstGeom prst="line">
            <a:avLst/>
          </a:prstGeom>
          <a:ln w="12700">
            <a:solidFill>
              <a:srgbClr val="DE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85800" y="1417320"/>
            <a:ext cx="10835640" cy="594360"/>
          </a:xfrm>
          <a:prstGeom prst="roundRect">
            <a:avLst/>
          </a:prstGeom>
          <a:solidFill>
            <a:srgbClr val="FFF0F3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27048"/>
            <a:ext cx="233172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300" b="1">
                <a:solidFill>
                  <a:srgbClr val="111318"/>
                </a:solidFill>
                <a:latin typeface="Malgun Gothic"/>
              </a:rPr>
              <a:t>짧고 조용한 회복 여행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527048"/>
            <a:ext cx="781812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100" b="0">
                <a:solidFill>
                  <a:srgbClr val="5B6676"/>
                </a:solidFill>
                <a:latin typeface="Malgun Gothic"/>
              </a:rPr>
              <a:t>제주문학관 → 제주한란전시관 → 사려니숲길 무장애나눔길 → 제주국제컨벤션센터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21992"/>
            <a:ext cx="10835640" cy="594360"/>
          </a:xfrm>
          <a:prstGeom prst="roundRect">
            <a:avLst/>
          </a:prstGeom>
          <a:solidFill>
            <a:srgbClr val="E9F8F2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233172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300" b="1">
                <a:solidFill>
                  <a:srgbClr val="111318"/>
                </a:solidFill>
                <a:latin typeface="Malgun Gothic"/>
              </a:rPr>
              <a:t>휠체어 접근 확인 코스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331720"/>
            <a:ext cx="781812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100" b="0">
                <a:solidFill>
                  <a:srgbClr val="5B6676"/>
                </a:solidFill>
                <a:latin typeface="Malgun Gothic"/>
              </a:rPr>
              <a:t>제주문학관 → 제주국제컨벤션센터 → 오설록 티 뮤지엄 → 제주한란전시관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26664"/>
            <a:ext cx="10835640" cy="594360"/>
          </a:xfrm>
          <a:prstGeom prst="roundRect">
            <a:avLst/>
          </a:prstGeom>
          <a:solidFill>
            <a:srgbClr val="F6F2FF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136392"/>
            <a:ext cx="233172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300" b="1">
                <a:solidFill>
                  <a:srgbClr val="111318"/>
                </a:solidFill>
                <a:latin typeface="Malgun Gothic"/>
              </a:rPr>
              <a:t>아이 동반 짧은 코스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136392"/>
            <a:ext cx="781812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100" b="0">
                <a:solidFill>
                  <a:srgbClr val="5B6676"/>
                </a:solidFill>
                <a:latin typeface="Malgun Gothic"/>
              </a:rPr>
              <a:t>제주문학관 → 제주국제컨벤션센터 → 서귀포 치유의숲 → 사려니숲길 무장애나눔길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31336"/>
            <a:ext cx="10835640" cy="594360"/>
          </a:xfrm>
          <a:prstGeom prst="roundRect">
            <a:avLst/>
          </a:prstGeom>
          <a:solidFill>
            <a:srgbClr val="E8F5FF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941064"/>
            <a:ext cx="233172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300" b="1">
                <a:solidFill>
                  <a:srgbClr val="111318"/>
                </a:solidFill>
                <a:latin typeface="Malgun Gothic"/>
              </a:rPr>
              <a:t>날씨 영향을 줄인 코스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941064"/>
            <a:ext cx="781812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100" b="0">
                <a:solidFill>
                  <a:srgbClr val="5B6676"/>
                </a:solidFill>
                <a:latin typeface="Malgun Gothic"/>
              </a:rPr>
              <a:t>제주문학관 → 제주국제컨벤션센터 → 제주한란전시관 → 제주세계자연유산센터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636008"/>
            <a:ext cx="10835640" cy="594360"/>
          </a:xfrm>
          <a:prstGeom prst="roundRect">
            <a:avLst/>
          </a:prstGeom>
          <a:solidFill>
            <a:srgbClr val="FFF6E6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745736"/>
            <a:ext cx="233172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300" b="1">
                <a:solidFill>
                  <a:srgbClr val="111318"/>
                </a:solidFill>
                <a:latin typeface="Malgun Gothic"/>
              </a:rPr>
              <a:t>식사 장소를 제외한 코스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4745736"/>
            <a:ext cx="781812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100" b="0">
                <a:solidFill>
                  <a:srgbClr val="5B6676"/>
                </a:solidFill>
                <a:latin typeface="Malgun Gothic"/>
              </a:rPr>
              <a:t>제주문학관 → 사려니숲길 무장애나눔길 → 서귀포 치유의숲 → 제주한란전시관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623560"/>
            <a:ext cx="1024128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1400" b="1">
                <a:solidFill>
                  <a:srgbClr val="0B3F78"/>
                </a:solidFill>
                <a:latin typeface="Malgun Gothic"/>
              </a:rPr>
              <a:t>예: 음식 제한은 식당·시장 제외, 날씨 민감은 바다·오름·고노출 야외를 상위 추천에서 배제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65392"/>
            <a:ext cx="59436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800" b="0">
                <a:solidFill>
                  <a:srgbClr val="78808C"/>
                </a:solidFill>
                <a:latin typeface="Malgun Gothic"/>
              </a:rPr>
              <a:t>가치봄 제주 · 런케이션 해커톤 · 신뢰도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565392"/>
            <a:ext cx="457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r"/>
            <a:r>
              <a:rPr sz="800" b="1">
                <a:solidFill>
                  <a:srgbClr val="126FB5"/>
                </a:solidFill>
                <a:latin typeface="Malgun Gothi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4183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2900" b="1">
                <a:solidFill>
                  <a:srgbClr val="111318"/>
                </a:solidFill>
                <a:latin typeface="Malgun Gothic"/>
              </a:rPr>
              <a:t>서비스 화면 데모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93268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200" b="0">
                <a:solidFill>
                  <a:srgbClr val="5B6676"/>
                </a:solidFill>
                <a:latin typeface="Malgun Gothic"/>
              </a:rPr>
              <a:t>컨셉 선택 · 지도 · 상세 근거 · 공식 코스를 한 흐름으로 제공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332720" cy="0"/>
          </a:xfrm>
          <a:prstGeom prst="line">
            <a:avLst/>
          </a:prstGeom>
          <a:ln w="12700">
            <a:solidFill>
              <a:srgbClr val="DE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gachibom-concept-page-fixed-v52-20260709.png"/>
          <p:cNvPicPr>
            <a:picLocks noChangeAspect="1"/>
          </p:cNvPicPr>
          <p:nvPr/>
        </p:nvPicPr>
        <p:blipFill>
          <a:blip r:embed="rId2"/>
          <a:srcRect l="3000" r="3000"/>
          <a:stretch>
            <a:fillRect/>
          </a:stretch>
        </p:blipFill>
        <p:spPr>
          <a:xfrm>
            <a:off x="594360" y="1325880"/>
            <a:ext cx="5303520" cy="2286000"/>
          </a:xfrm>
          <a:prstGeom prst="rect">
            <a:avLst/>
          </a:prstGeom>
        </p:spPr>
      </p:pic>
      <p:pic>
        <p:nvPicPr>
          <p:cNvPr id="6" name="Picture 5" descr="jeju-maeum-live-leaflet-map-popup-1366-20260709.png"/>
          <p:cNvPicPr>
            <a:picLocks noChangeAspect="1"/>
          </p:cNvPicPr>
          <p:nvPr/>
        </p:nvPicPr>
        <p:blipFill>
          <a:blip r:embed="rId3"/>
          <a:srcRect l="3000" r="3000"/>
          <a:stretch>
            <a:fillRect/>
          </a:stretch>
        </p:blipFill>
        <p:spPr>
          <a:xfrm>
            <a:off x="6172200" y="1325880"/>
            <a:ext cx="5394960" cy="2286000"/>
          </a:xfrm>
          <a:prstGeom prst="rect">
            <a:avLst/>
          </a:prstGeom>
        </p:spPr>
      </p:pic>
      <p:pic>
        <p:nvPicPr>
          <p:cNvPr id="7" name="Picture 6" descr="jeju-maeum-route-detail-modal-8792-proxy-1366-20260709.png"/>
          <p:cNvPicPr>
            <a:picLocks noChangeAspect="1"/>
          </p:cNvPicPr>
          <p:nvPr/>
        </p:nvPicPr>
        <p:blipFill>
          <a:blip r:embed="rId4"/>
          <a:srcRect l="3000" r="3000"/>
          <a:stretch>
            <a:fillRect/>
          </a:stretch>
        </p:blipFill>
        <p:spPr>
          <a:xfrm>
            <a:off x="594360" y="3977639"/>
            <a:ext cx="5303520" cy="1737360"/>
          </a:xfrm>
          <a:prstGeom prst="rect">
            <a:avLst/>
          </a:prstGeom>
        </p:spPr>
      </p:pic>
      <p:pic>
        <p:nvPicPr>
          <p:cNvPr id="8" name="Picture 7" descr="jeju-maeum-validation-evidence-8790-20260709.png"/>
          <p:cNvPicPr>
            <a:picLocks noChangeAspect="1"/>
          </p:cNvPicPr>
          <p:nvPr/>
        </p:nvPicPr>
        <p:blipFill>
          <a:blip r:embed="rId5"/>
          <a:srcRect l="3000" r="3000"/>
          <a:stretch>
            <a:fillRect/>
          </a:stretch>
        </p:blipFill>
        <p:spPr>
          <a:xfrm>
            <a:off x="6172200" y="3977639"/>
            <a:ext cx="5394960" cy="1737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" y="1463040"/>
            <a:ext cx="1143000" cy="329184"/>
          </a:xfrm>
          <a:prstGeom prst="roundRect">
            <a:avLst/>
          </a:prstGeom>
          <a:solidFill>
            <a:srgbClr val="E8F5FF"/>
          </a:solidFill>
          <a:ln w="12700">
            <a:solidFill>
              <a:srgbClr val="BE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531620"/>
            <a:ext cx="923544" cy="146304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900" b="1">
                <a:solidFill>
                  <a:srgbClr val="126FB5"/>
                </a:solidFill>
                <a:latin typeface="Malgun Gothic"/>
              </a:rPr>
              <a:t>컨셉 선택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463040"/>
            <a:ext cx="1417320" cy="329184"/>
          </a:xfrm>
          <a:prstGeom prst="roundRect">
            <a:avLst/>
          </a:prstGeom>
          <a:solidFill>
            <a:srgbClr val="E8F5FF"/>
          </a:solidFill>
          <a:ln w="12700">
            <a:solidFill>
              <a:srgbClr val="BE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8" y="1531620"/>
            <a:ext cx="1197864" cy="146304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900" b="1">
                <a:solidFill>
                  <a:srgbClr val="126FB5"/>
                </a:solidFill>
                <a:latin typeface="Malgun Gothic"/>
              </a:rPr>
              <a:t>실제 좌표 지도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114800"/>
            <a:ext cx="1143000" cy="329184"/>
          </a:xfrm>
          <a:prstGeom prst="roundRect">
            <a:avLst/>
          </a:prstGeom>
          <a:solidFill>
            <a:srgbClr val="E8F5FF"/>
          </a:solidFill>
          <a:ln w="12700">
            <a:solidFill>
              <a:srgbClr val="BE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4183380"/>
            <a:ext cx="923544" cy="146304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900" b="1">
                <a:solidFill>
                  <a:srgbClr val="126FB5"/>
                </a:solidFill>
                <a:latin typeface="Malgun Gothic"/>
              </a:rPr>
              <a:t>경로 모달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4114800"/>
            <a:ext cx="1143000" cy="329184"/>
          </a:xfrm>
          <a:prstGeom prst="roundRect">
            <a:avLst/>
          </a:prstGeom>
          <a:solidFill>
            <a:srgbClr val="E8F5FF"/>
          </a:solidFill>
          <a:ln w="12700">
            <a:solidFill>
              <a:srgbClr val="BE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8" y="4183380"/>
            <a:ext cx="923544" cy="146304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900" b="1">
                <a:solidFill>
                  <a:srgbClr val="126FB5"/>
                </a:solidFill>
                <a:latin typeface="Malgun Gothic"/>
              </a:rPr>
              <a:t>근거 상세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65392"/>
            <a:ext cx="59436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800" b="0">
                <a:solidFill>
                  <a:srgbClr val="78808C"/>
                </a:solidFill>
                <a:latin typeface="Malgun Gothic"/>
              </a:rPr>
              <a:t>가치봄 제주 · 런케이션 해커톤 · 신뢰도 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565392"/>
            <a:ext cx="457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r"/>
            <a:r>
              <a:rPr sz="800" b="1">
                <a:solidFill>
                  <a:srgbClr val="126FB5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4183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2900" b="1">
                <a:solidFill>
                  <a:srgbClr val="111318"/>
                </a:solidFill>
                <a:latin typeface="Malgun Gothic"/>
              </a:rPr>
              <a:t>서비스 견고성과 보안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93268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200" b="0">
                <a:solidFill>
                  <a:srgbClr val="5B6676"/>
                </a:solidFill>
                <a:latin typeface="Malgun Gothic"/>
              </a:rPr>
              <a:t>해커톤 데모가 아니라 배포 가능한 서비스 기준으로 점검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332720" cy="0"/>
          </a:xfrm>
          <a:prstGeom prst="line">
            <a:avLst/>
          </a:prstGeom>
          <a:ln w="12700">
            <a:solidFill>
              <a:srgbClr val="DE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508760"/>
            <a:ext cx="10561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45919"/>
            <a:ext cx="164592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400" b="1">
                <a:solidFill>
                  <a:srgbClr val="0B3F78"/>
                </a:solidFill>
                <a:latin typeface="Malgun Gothic"/>
              </a:rPr>
              <a:t>서버 계약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45919"/>
            <a:ext cx="813816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200" b="0">
                <a:solidFill>
                  <a:srgbClr val="5B6676"/>
                </a:solidFill>
                <a:latin typeface="Malgun Gothic"/>
              </a:rPr>
              <a:t>/api/health · /api/recommendations · /api/routes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68880"/>
            <a:ext cx="10561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164592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400" b="1">
                <a:solidFill>
                  <a:srgbClr val="0B3F78"/>
                </a:solidFill>
                <a:latin typeface="Malgun Gothic"/>
              </a:rPr>
              <a:t>장애 대응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606040"/>
            <a:ext cx="813816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200" b="0">
                <a:solidFill>
                  <a:srgbClr val="5B6676"/>
                </a:solidFill>
                <a:latin typeface="Malgun Gothic"/>
              </a:rPr>
              <a:t>API 실패 시 기본 추천 폴백, 경로 프록시 미지원 시 브라우저 계산 대체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429000"/>
            <a:ext cx="10561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566160"/>
            <a:ext cx="164592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400" b="1">
                <a:solidFill>
                  <a:srgbClr val="0B3F78"/>
                </a:solidFill>
                <a:latin typeface="Malgun Gothic"/>
              </a:rPr>
              <a:t>데이터 게이트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566160"/>
            <a:ext cx="813816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200" b="0">
                <a:solidFill>
                  <a:srgbClr val="5B6676"/>
                </a:solidFill>
                <a:latin typeface="Malgun Gothic"/>
              </a:rPr>
              <a:t>검수 전 장소는 사용자 추천 근거로 과장 표기하지 않음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389120"/>
            <a:ext cx="10561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526280"/>
            <a:ext cx="164592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400" b="1">
                <a:solidFill>
                  <a:srgbClr val="0B3F78"/>
                </a:solidFill>
                <a:latin typeface="Malgun Gothic"/>
              </a:rPr>
              <a:t>보안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526280"/>
            <a:ext cx="813816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200" b="0">
                <a:solidFill>
                  <a:srgbClr val="5B6676"/>
                </a:solidFill>
                <a:latin typeface="Malgun Gothic"/>
              </a:rPr>
              <a:t>API 키는 환경변수/Secrets, 리포트에는 설정 여부만 기록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5532120"/>
            <a:ext cx="5669280" cy="502920"/>
          </a:xfrm>
          <a:prstGeom prst="roundRect">
            <a:avLst/>
          </a:prstGeom>
          <a:solidFill>
            <a:srgbClr val="E1F7F3"/>
          </a:solidFill>
          <a:ln w="1270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29000" y="5669280"/>
            <a:ext cx="530352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1400" b="1">
                <a:solidFill>
                  <a:srgbClr val="128C83"/>
                </a:solidFill>
                <a:latin typeface="Malgun Gothic"/>
              </a:rPr>
              <a:t>비밀값 노출 검사: 의심 파일 0개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65392"/>
            <a:ext cx="59436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800" b="0">
                <a:solidFill>
                  <a:srgbClr val="78808C"/>
                </a:solidFill>
                <a:latin typeface="Malgun Gothic"/>
              </a:rPr>
              <a:t>가치봄 제주 · 런케이션 해커톤 · 신뢰도 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65392"/>
            <a:ext cx="457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r"/>
            <a:r>
              <a:rPr sz="800" b="1">
                <a:solidFill>
                  <a:srgbClr val="126FB5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4183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2900" b="1">
                <a:solidFill>
                  <a:srgbClr val="111318"/>
                </a:solidFill>
                <a:latin typeface="Malgun Gothic"/>
              </a:rPr>
              <a:t>결론과 다음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93268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200" b="0">
                <a:solidFill>
                  <a:srgbClr val="5B6676"/>
                </a:solidFill>
                <a:latin typeface="Malgun Gothic"/>
              </a:rPr>
              <a:t>좋은 모델보다 중요한 것은 검증 가능한 근거와 운영 게이트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332720" cy="0"/>
          </a:xfrm>
          <a:prstGeom prst="line">
            <a:avLst/>
          </a:prstGeom>
          <a:ln w="12700">
            <a:solidFill>
              <a:srgbClr val="DE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417320"/>
            <a:ext cx="1069848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2200" b="1">
                <a:solidFill>
                  <a:srgbClr val="111318"/>
                </a:solidFill>
                <a:latin typeface="Malgun Gothic"/>
              </a:rPr>
              <a:t>가치봄 제주는 접근성 여행 정보를 ‘추천’하기 전에, 출처와 조건과 검수 상태를 대조해 믿을 수 있는지 분석합니다.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2779776"/>
            <a:ext cx="82296" cy="82296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44168" y="2706624"/>
            <a:ext cx="9674352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700" b="0">
                <a:solidFill>
                  <a:srgbClr val="111318"/>
                </a:solidFill>
                <a:latin typeface="Malgun Gothic"/>
              </a:rPr>
              <a:t>팀 페이지 기록: 제안서 · 작업 내역 · 발표 자료 · GitHub · 배포 URL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3282696"/>
            <a:ext cx="82296" cy="82296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44168" y="3209544"/>
            <a:ext cx="9674352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700" b="0">
                <a:solidFill>
                  <a:srgbClr val="111318"/>
                </a:solidFill>
                <a:latin typeface="Malgun Gothic"/>
              </a:rPr>
              <a:t>누락 로드뷰 70장 복구 또는 대체 원본 수령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785615"/>
            <a:ext cx="82296" cy="82296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44168" y="3712463"/>
            <a:ext cx="9674352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700" b="0">
                <a:solidFill>
                  <a:srgbClr val="111318"/>
                </a:solidFill>
                <a:latin typeface="Malgun Gothic"/>
              </a:rPr>
              <a:t>사람 최종 검수 완료 후 서비스 시드 승격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288536"/>
            <a:ext cx="82296" cy="82296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44168" y="4215384"/>
            <a:ext cx="9674352" cy="310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1700" b="0">
                <a:solidFill>
                  <a:srgbClr val="111318"/>
                </a:solidFill>
                <a:latin typeface="Malgun Gothic"/>
              </a:rPr>
              <a:t>공개 배포 URL 연결 및 README 실행 방법 정리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669280"/>
            <a:ext cx="10332720" cy="502920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5824728"/>
            <a:ext cx="9966960" cy="1371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데모: http://127.0.0.1:8792/?v=52  ·  공개 URL은 팀 페이지 제출 전 교체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65392"/>
            <a:ext cx="59436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800" b="0">
                <a:solidFill>
                  <a:srgbClr val="78808C"/>
                </a:solidFill>
                <a:latin typeface="Malgun Gothic"/>
              </a:rPr>
              <a:t>가치봄 제주 · 런케이션 해커톤 · 신뢰도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65392"/>
            <a:ext cx="457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r"/>
            <a:r>
              <a:rPr sz="800" b="1">
                <a:solidFill>
                  <a:srgbClr val="126FB5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893</Words>
  <Application>Microsoft Office PowerPoint</Application>
  <PresentationFormat>वाइडस्क्रीन</PresentationFormat>
  <Paragraphs>169</Paragraphs>
  <Slides>12</Slides>
  <Notes>0</Notes>
  <HiddenSlides>0</HiddenSlides>
  <MMClips>0</MMClips>
  <ScaleCrop>false</ScaleCrop>
  <HeadingPairs>
    <vt:vector size="6" baseType="variant">
      <vt:variant>
        <vt:lpstr>उपयोग किए गए फ़ॉन्ट</vt:lpstr>
      </vt:variant>
      <vt:variant>
        <vt:i4>3</vt:i4>
      </vt:variant>
      <vt:variant>
        <vt:lpstr>विषयवस्तु</vt:lpstr>
      </vt:variant>
      <vt:variant>
        <vt:i4>1</vt:i4>
      </vt:variant>
      <vt:variant>
        <vt:lpstr>स्लाइड शीर्षक</vt:lpstr>
      </vt:variant>
      <vt:variant>
        <vt:i4>12</vt:i4>
      </vt:variant>
    </vt:vector>
  </HeadingPairs>
  <TitlesOfParts>
    <vt:vector size="16" baseType="lpstr">
      <vt:lpstr>Malgun Gothic</vt:lpstr>
      <vt:lpstr>Arial</vt:lpstr>
      <vt:lpstr>Calibri</vt:lpstr>
      <vt:lpstr>Office Theme</vt:lpstr>
      <vt:lpstr>PowerPoint प्रस्तुति</vt:lpstr>
      <vt:lpstr>PowerPoint प्रस्तुति</vt:lpstr>
      <vt:lpstr>PowerPoint प्रस्तुति</vt:lpstr>
      <vt:lpstr>PowerPoint प्रस्तुति</vt:lpstr>
      <vt:lpstr>PowerPoint प्रस्तुति</vt:lpstr>
      <vt:lpstr>PowerPoint प्रस्तुति</vt:lpstr>
      <vt:lpstr>PowerPoint प्रस्तुति</vt:lpstr>
      <vt:lpstr>PowerPoint प्रस्तुति</vt:lpstr>
      <vt:lpstr>PowerPoint प्रस्तुति</vt:lpstr>
      <vt:lpstr>PowerPoint प्रस्तुति</vt:lpstr>
      <vt:lpstr>PowerPoint प्रस्तुति</vt:lpstr>
      <vt:lpstr>PowerPoint प्रस्तुति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jejunu</cp:lastModifiedBy>
  <cp:revision>2</cp:revision>
  <dcterms:created xsi:type="dcterms:W3CDTF">2013-01-27T09:14:16Z</dcterms:created>
  <dcterms:modified xsi:type="dcterms:W3CDTF">2026-07-09T12:57:41Z</dcterms:modified>
  <cp:category/>
</cp:coreProperties>
</file>