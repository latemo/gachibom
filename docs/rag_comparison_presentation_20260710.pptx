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4944" y="694944"/>
            <a:ext cx="1417320" cy="310896"/>
          </a:xfrm>
          <a:prstGeom prst="roundRect">
            <a:avLst/>
          </a:prstGeom>
          <a:solidFill>
            <a:srgbClr val="E7F3FF"/>
          </a:solidFill>
          <a:ln w="12700">
            <a:solidFill>
              <a:srgbClr val="E7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745236"/>
            <a:ext cx="1271016" cy="16459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800" b="1">
                <a:solidFill>
                  <a:srgbClr val="0B3F78"/>
                </a:solidFill>
                <a:latin typeface="Malgun Gothic"/>
              </a:rPr>
              <a:t>추천 품질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225296"/>
            <a:ext cx="6675120" cy="62179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3800" b="1">
                <a:solidFill>
                  <a:srgbClr val="141820"/>
                </a:solidFill>
                <a:latin typeface="Malgun Gothic"/>
              </a:rPr>
              <a:t>RAG 사용/미사용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938528"/>
            <a:ext cx="649224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900" b="1">
                <a:solidFill>
                  <a:srgbClr val="0B3F78"/>
                </a:solidFill>
                <a:latin typeface="Malgun Gothic"/>
              </a:rPr>
              <a:t>제주 접근성 여행 추천의 근거 기반 검증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608076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500" b="0">
                <a:solidFill>
                  <a:srgbClr val="5B6676"/>
                </a:solidFill>
                <a:latin typeface="Malgun Gothic"/>
              </a:rPr>
              <a:t>같은 5개 사용자 상황을 기준으로 RAG 추천과 무RAG 통제 기준선을 동일한 검증표로 비교했습니다.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7033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849624"/>
            <a:ext cx="1801368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2800" b="1">
                <a:solidFill>
                  <a:srgbClr val="239758"/>
                </a:solidFill>
                <a:latin typeface="Malgun Gothic"/>
              </a:rPr>
              <a:t>59/59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416552"/>
            <a:ext cx="1764792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RAG 체크 통과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0672" y="37033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3849624"/>
            <a:ext cx="1801368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2800" b="1">
                <a:solidFill>
                  <a:srgbClr val="D14141"/>
                </a:solidFill>
                <a:latin typeface="Malgun Gothic"/>
              </a:rPr>
              <a:t>5/59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4416552"/>
            <a:ext cx="1764792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무RAG 체크 통과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31536" y="37033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9552" y="3849624"/>
            <a:ext cx="1801368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2800" b="1">
                <a:solidFill>
                  <a:srgbClr val="126FB5"/>
                </a:solidFill>
                <a:latin typeface="Malgun Gothic"/>
              </a:rPr>
              <a:t>62/62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416552"/>
            <a:ext cx="1764792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공식 코스 슬롯 매칭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3F78"/>
          </a:solidFill>
          <a:ln w="12700">
            <a:solidFill>
              <a:srgbClr val="0B3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143000"/>
            <a:ext cx="329184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핵심 결론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011680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1920240"/>
            <a:ext cx="299923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300" b="0">
                <a:solidFill>
                  <a:srgbClr val="FFFFFF"/>
                </a:solidFill>
                <a:latin typeface="Malgun Gothic"/>
              </a:rPr>
              <a:t>RAG는 케이스 5/5 통과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578608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3648" y="2487168"/>
            <a:ext cx="299923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300" b="0">
                <a:solidFill>
                  <a:srgbClr val="FFFFFF"/>
                </a:solidFill>
                <a:latin typeface="Malgun Gothic"/>
              </a:rPr>
              <a:t>무RAG 기준선은 0/5 통과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145536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8" y="3054096"/>
            <a:ext cx="299923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300" b="0">
                <a:solidFill>
                  <a:srgbClr val="FFFFFF"/>
                </a:solidFill>
                <a:latin typeface="Malgun Gothic"/>
              </a:rPr>
              <a:t>실패는 도보 부담, 제외 규칙, 편의시설 근거에서 집중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3712463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13648" y="3621024"/>
            <a:ext cx="299923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300" b="0">
                <a:solidFill>
                  <a:srgbClr val="FFFFFF"/>
                </a:solidFill>
                <a:latin typeface="Malgun Gothic"/>
              </a:rPr>
              <a:t>공식 코스 대조는 RAG에서만 가능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6528816"/>
            <a:ext cx="713232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800" b="0">
                <a:solidFill>
                  <a:srgbClr val="5B6676"/>
                </a:solidFill>
                <a:latin typeface="Malgun Gothic"/>
              </a:rPr>
              <a:t>RAG 사용/미사용 추천 검증 비교 · 2026.07.10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528816"/>
            <a:ext cx="438912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2800" b="1">
                <a:solidFill>
                  <a:srgbClr val="141820"/>
                </a:solidFill>
                <a:latin typeface="Malgun Gothic"/>
              </a:rPr>
              <a:t>비교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04672"/>
            <a:ext cx="10698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같은 입력, 같은 검증표, 다른 근거 사용 방식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133856"/>
            <a:ext cx="11045952" cy="0"/>
          </a:xfrm>
          <a:prstGeom prst="line">
            <a:avLst/>
          </a:prstGeom>
          <a:ln w="12700">
            <a:solidFill>
              <a:srgbClr val="DB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572768"/>
            <a:ext cx="4892040" cy="3246120"/>
          </a:xfrm>
          <a:prstGeom prst="roundRect">
            <a:avLst/>
          </a:prstGeom>
          <a:solidFill>
            <a:srgbClr val="E7F8ED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847088"/>
            <a:ext cx="429768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2200" b="1">
                <a:solidFill>
                  <a:srgbClr val="141820"/>
                </a:solidFill>
                <a:latin typeface="Malgun Gothic"/>
              </a:rPr>
              <a:t>RAG 사용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633472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2542032"/>
            <a:ext cx="409651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141820"/>
                </a:solidFill>
                <a:latin typeface="Malgun Gothic"/>
              </a:rPr>
              <a:t>장소 카드와 검수 상태 검색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072384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980944"/>
            <a:ext cx="409651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141820"/>
                </a:solidFill>
                <a:latin typeface="Malgun Gothic"/>
              </a:rPr>
              <a:t>상황별 제외/감점 정책 적용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511296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3419856"/>
            <a:ext cx="409651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141820"/>
                </a:solidFill>
                <a:latin typeface="Malgun Gothic"/>
              </a:rPr>
              <a:t>공식 추천코스 슬롯 대조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950207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3858768"/>
            <a:ext cx="409651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141820"/>
                </a:solidFill>
                <a:latin typeface="Malgun Gothic"/>
              </a:rPr>
              <a:t>추천 근거와 방문 전 확인 항목 생성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72768"/>
            <a:ext cx="4892040" cy="324612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847088"/>
            <a:ext cx="429768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2200" b="1">
                <a:solidFill>
                  <a:srgbClr val="141820"/>
                </a:solidFill>
                <a:latin typeface="Malgun Gothic"/>
              </a:rPr>
              <a:t>RAG 미사용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633472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2542032"/>
            <a:ext cx="409651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141820"/>
                </a:solidFill>
                <a:latin typeface="Malgun Gothic"/>
              </a:rPr>
              <a:t>근거 저장소 없이 일반 제주 대표지 중심 응답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3072384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2980944"/>
            <a:ext cx="409651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141820"/>
                </a:solidFill>
                <a:latin typeface="Malgun Gothic"/>
              </a:rPr>
              <a:t>장소별 편의시설·검수 상태 미연결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3511296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0568" y="3419856"/>
            <a:ext cx="409651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141820"/>
                </a:solidFill>
                <a:latin typeface="Malgun Gothic"/>
              </a:rPr>
              <a:t>차단 후보와 감점 사유 추적 불가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950207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3858768"/>
            <a:ext cx="409651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141820"/>
                </a:solidFill>
                <a:latin typeface="Malgun Gothic"/>
              </a:rPr>
              <a:t>통제 기준선으로 재현해 동일 검증표 적용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8992" y="5321808"/>
            <a:ext cx="9966960" cy="640080"/>
          </a:xfrm>
          <a:prstGeom prst="roundRect">
            <a:avLst/>
          </a:prstGeom>
          <a:solidFill>
            <a:srgbClr val="FFF7DB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504688"/>
            <a:ext cx="9464040" cy="23774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400" b="1">
                <a:solidFill>
                  <a:srgbClr val="141820"/>
                </a:solidFill>
                <a:latin typeface="Malgun Gothic"/>
              </a:rPr>
              <a:t>주의: 무RAG 자료는 실제 외부 모델 운영 로그가 아니라 위험 비교용 통제 기준선입니다.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6528816"/>
            <a:ext cx="713232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800" b="0">
                <a:solidFill>
                  <a:srgbClr val="5B6676"/>
                </a:solidFill>
                <a:latin typeface="Malgun Gothic"/>
              </a:rPr>
              <a:t>RAG 사용/미사용 추천 검증 비교 · 2026.07.10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37392" y="6528816"/>
            <a:ext cx="438912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2800" b="1">
                <a:solidFill>
                  <a:srgbClr val="141820"/>
                </a:solidFill>
                <a:latin typeface="Malgun Gothic"/>
              </a:rPr>
              <a:t>검증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04672"/>
            <a:ext cx="10698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상황별 추천 정책과 공식 코스 데이터를 함께 사용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133856"/>
            <a:ext cx="11045952" cy="0"/>
          </a:xfrm>
          <a:prstGeom prst="line">
            <a:avLst/>
          </a:prstGeom>
          <a:ln w="12700">
            <a:solidFill>
              <a:srgbClr val="DB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481328"/>
            <a:ext cx="193852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27632"/>
            <a:ext cx="1682496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2800" b="1">
                <a:solidFill>
                  <a:srgbClr val="126FB5"/>
                </a:solidFill>
                <a:latin typeface="Malgun Gothic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94560"/>
            <a:ext cx="16459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사용자 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4368" y="1481328"/>
            <a:ext cx="193852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72384" y="1627632"/>
            <a:ext cx="1682496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2800" b="1">
                <a:solidFill>
                  <a:srgbClr val="126FB5"/>
                </a:solidFill>
                <a:latin typeface="Malgun Gothic"/>
              </a:rPr>
              <a:t>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194560"/>
            <a:ext cx="16459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검증 체크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1481328"/>
            <a:ext cx="193852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8383" y="1627632"/>
            <a:ext cx="1682496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2800" b="1">
                <a:solidFill>
                  <a:srgbClr val="126FB5"/>
                </a:solidFill>
                <a:latin typeface="Malgun Gothic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6672" y="2194560"/>
            <a:ext cx="16459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공식 코스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16368" y="1481328"/>
            <a:ext cx="193852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4384" y="1627632"/>
            <a:ext cx="1682496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2800" b="1">
                <a:solidFill>
                  <a:srgbClr val="126FB5"/>
                </a:solidFill>
                <a:latin typeface="Malgun Gothic"/>
              </a:rPr>
              <a:t>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2194560"/>
            <a:ext cx="16459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코스 슬롯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02368" y="1481328"/>
            <a:ext cx="193852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0384" y="1627632"/>
            <a:ext cx="1682496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2800" b="1">
                <a:solidFill>
                  <a:srgbClr val="126FB5"/>
                </a:solidFill>
                <a:latin typeface="Malgun Gothic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8672" y="2194560"/>
            <a:ext cx="164592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미매칭 장소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4944" y="2926080"/>
          <a:ext cx="108356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051560"/>
                <a:gridCol w="7406640"/>
              </a:tblGrid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상황</a:t>
                      </a:r>
                    </a:p>
                  </a:txBody>
                  <a:tcPr marL="36576" marR="36576" marT="18288" marB="18288">
                    <a:solidFill>
                      <a:srgbClr val="0B3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RAG</a:t>
                      </a:r>
                    </a:p>
                  </a:txBody>
                  <a:tcPr marL="36576" marR="36576" marT="18288" marB="18288">
                    <a:solidFill>
                      <a:srgbClr val="0B3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무RAG</a:t>
                      </a:r>
                    </a:p>
                  </a:txBody>
                  <a:tcPr marL="36576" marR="36576" marT="18288" marB="18288">
                    <a:solidFill>
                      <a:srgbClr val="0B3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무RAG 추천 유형</a:t>
                      </a:r>
                    </a:p>
                  </a:txBody>
                  <a:tcPr marL="36576" marR="36576" marT="18288" marB="18288">
                    <a:solidFill>
                      <a:srgbClr val="0B3F78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회복 중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12/12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1/12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food_market, oreum, sea, cafe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음식 제한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11/11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1/11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food_market, restaurant, food_market, cafe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휠체어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11/11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1/11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oreum, sea, food_market, sea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아이 동반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13/13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1/13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sea, oreum, food_market, sea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날씨 민감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12/12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1/12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sea, oreum, oreum, sea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914400" y="5577840"/>
            <a:ext cx="10378440" cy="31089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100" b="0">
                <a:solidFill>
                  <a:srgbClr val="5B6676"/>
                </a:solidFill>
                <a:latin typeface="Malgun Gothic"/>
              </a:rPr>
              <a:t>평가 기준: 추천 수, 총점, 차단 여부, 도보 부담, 제외 유형, 편의시설, 설명 필수어, 방문 전 확인, 정책 효과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6528816"/>
            <a:ext cx="713232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800" b="0">
                <a:solidFill>
                  <a:srgbClr val="5B6676"/>
                </a:solidFill>
                <a:latin typeface="Malgun Gothic"/>
              </a:rPr>
              <a:t>RAG 사용/미사용 추천 검증 비교 · 2026.07.10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6528816"/>
            <a:ext cx="438912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2800" b="1">
                <a:solidFill>
                  <a:srgbClr val="141820"/>
                </a:solidFill>
                <a:latin typeface="Malgun Gothic"/>
              </a:rPr>
              <a:t>정량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04672"/>
            <a:ext cx="10698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RAG는 모든 체크를 통과했고, 무RAG는 대부분의 검증 항목에서 실패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133856"/>
            <a:ext cx="11045952" cy="0"/>
          </a:xfrm>
          <a:prstGeom prst="line">
            <a:avLst/>
          </a:prstGeom>
          <a:ln w="12700">
            <a:solidFill>
              <a:srgbClr val="DB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04672" y="1417320"/>
            <a:ext cx="2331720" cy="1143000"/>
          </a:xfrm>
          <a:prstGeom prst="roundRect">
            <a:avLst/>
          </a:prstGeom>
          <a:solidFill>
            <a:srgbClr val="E7F8ED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63624"/>
            <a:ext cx="2075687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2800" b="1">
                <a:solidFill>
                  <a:srgbClr val="239758"/>
                </a:solidFill>
                <a:latin typeface="Malgun Gothic"/>
              </a:rPr>
              <a:t>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130552"/>
            <a:ext cx="2039112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RAG 케이스 통과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17320"/>
            <a:ext cx="2331720" cy="1143000"/>
          </a:xfrm>
          <a:prstGeom prst="roundRect">
            <a:avLst/>
          </a:prstGeom>
          <a:solidFill>
            <a:srgbClr val="E7F8ED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1563624"/>
            <a:ext cx="2075687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2800" b="1">
                <a:solidFill>
                  <a:srgbClr val="239758"/>
                </a:solidFill>
                <a:latin typeface="Malgun Gothic"/>
              </a:rPr>
              <a:t>59/59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9584" y="2130552"/>
            <a:ext cx="2039112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RAG 체크 통과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3952" y="1417320"/>
            <a:ext cx="2331720" cy="114300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563624"/>
            <a:ext cx="2075687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2800" b="1">
                <a:solidFill>
                  <a:srgbClr val="D14141"/>
                </a:solidFill>
                <a:latin typeface="Malgun Gothic"/>
              </a:rPr>
              <a:t>0/5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6" y="2130552"/>
            <a:ext cx="2039112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무RAG 케이스 통과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417320"/>
            <a:ext cx="2331720" cy="114300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1563624"/>
            <a:ext cx="2075687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2800" b="1">
                <a:solidFill>
                  <a:srgbClr val="D14141"/>
                </a:solidFill>
                <a:latin typeface="Malgun Gothic"/>
              </a:rPr>
              <a:t>5/59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4" y="2130552"/>
            <a:ext cx="2039112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5B6676"/>
                </a:solidFill>
                <a:latin typeface="Malgun Gothic"/>
              </a:rPr>
              <a:t>무RAG 체크 통과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60"/>
            <a:ext cx="2011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1">
                <a:solidFill>
                  <a:srgbClr val="141820"/>
                </a:solidFill>
                <a:latin typeface="Malgun Gothic"/>
              </a:rPr>
              <a:t>RAG 케이스 통과율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401568"/>
            <a:ext cx="4251960" cy="164592"/>
          </a:xfrm>
          <a:prstGeom prst="roundRect">
            <a:avLst/>
          </a:prstGeom>
          <a:solidFill>
            <a:srgbClr val="DBE1EB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0" y="3401568"/>
            <a:ext cx="4251960" cy="164592"/>
          </a:xfrm>
          <a:prstGeom prst="roundRect">
            <a:avLst/>
          </a:prstGeom>
          <a:solidFill>
            <a:srgbClr val="239758"/>
          </a:solidFill>
          <a:ln w="12700">
            <a:solidFill>
              <a:srgbClr val="239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3319272"/>
            <a:ext cx="1005840" cy="2286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r"/>
            <a:r>
              <a:rPr sz="1200" b="1">
                <a:solidFill>
                  <a:srgbClr val="239758"/>
                </a:solidFill>
                <a:latin typeface="Malgun Gothic"/>
              </a:rPr>
              <a:t>100.0%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886200"/>
            <a:ext cx="2011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1">
                <a:solidFill>
                  <a:srgbClr val="141820"/>
                </a:solidFill>
                <a:latin typeface="Malgun Gothic"/>
              </a:rPr>
              <a:t>무RAG 케이스 통과율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3950208"/>
            <a:ext cx="4251960" cy="164592"/>
          </a:xfrm>
          <a:prstGeom prst="roundRect">
            <a:avLst/>
          </a:prstGeom>
          <a:solidFill>
            <a:srgbClr val="DBE1EB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00400" y="3950208"/>
            <a:ext cx="18288" cy="164592"/>
          </a:xfrm>
          <a:prstGeom prst="roundRect">
            <a:avLst/>
          </a:prstGeom>
          <a:solidFill>
            <a:srgbClr val="D14141"/>
          </a:solidFill>
          <a:ln w="12700">
            <a:solidFill>
              <a:srgbClr val="D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3867912"/>
            <a:ext cx="1005840" cy="2286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r"/>
            <a:r>
              <a:rPr sz="1200" b="1">
                <a:solidFill>
                  <a:srgbClr val="D14141"/>
                </a:solidFill>
                <a:latin typeface="Malgun Gothic"/>
              </a:rP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572000"/>
            <a:ext cx="2011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1">
                <a:solidFill>
                  <a:srgbClr val="141820"/>
                </a:solidFill>
                <a:latin typeface="Malgun Gothic"/>
              </a:rPr>
              <a:t>RAG 체크 통과율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4636008"/>
            <a:ext cx="4251960" cy="164592"/>
          </a:xfrm>
          <a:prstGeom prst="roundRect">
            <a:avLst/>
          </a:prstGeom>
          <a:solidFill>
            <a:srgbClr val="DBE1EB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00400" y="4636008"/>
            <a:ext cx="4251960" cy="164592"/>
          </a:xfrm>
          <a:prstGeom prst="roundRect">
            <a:avLst/>
          </a:prstGeom>
          <a:solidFill>
            <a:srgbClr val="239758"/>
          </a:solidFill>
          <a:ln w="12700">
            <a:solidFill>
              <a:srgbClr val="239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4553712"/>
            <a:ext cx="1005840" cy="2286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r"/>
            <a:r>
              <a:rPr sz="1200" b="1">
                <a:solidFill>
                  <a:srgbClr val="239758"/>
                </a:solidFill>
                <a:latin typeface="Malgun Gothic"/>
              </a:rPr>
              <a:t>100.0%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20640"/>
            <a:ext cx="20116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1">
                <a:solidFill>
                  <a:srgbClr val="141820"/>
                </a:solidFill>
                <a:latin typeface="Malgun Gothic"/>
              </a:rPr>
              <a:t>무RAG 체크 통과율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5184648"/>
            <a:ext cx="4251960" cy="164592"/>
          </a:xfrm>
          <a:prstGeom prst="roundRect">
            <a:avLst/>
          </a:prstGeom>
          <a:solidFill>
            <a:srgbClr val="DBE1EB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00400" y="5184648"/>
            <a:ext cx="360141" cy="164592"/>
          </a:xfrm>
          <a:prstGeom prst="roundRect">
            <a:avLst/>
          </a:prstGeom>
          <a:solidFill>
            <a:srgbClr val="D14141"/>
          </a:solidFill>
          <a:ln w="12700">
            <a:solidFill>
              <a:srgbClr val="D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5102352"/>
            <a:ext cx="1005840" cy="2286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r"/>
            <a:r>
              <a:rPr sz="1200" b="1">
                <a:solidFill>
                  <a:srgbClr val="D14141"/>
                </a:solidFill>
                <a:latin typeface="Malgun Gothic"/>
              </a:rPr>
              <a:t>8.5%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87968" y="3218688"/>
            <a:ext cx="2331720" cy="2212848"/>
          </a:xfrm>
          <a:prstGeom prst="roundRect">
            <a:avLst/>
          </a:prstGeom>
          <a:solidFill>
            <a:srgbClr val="E7F3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25712" y="3547872"/>
            <a:ext cx="182880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900" b="1">
                <a:solidFill>
                  <a:srgbClr val="0B3F78"/>
                </a:solidFill>
                <a:latin typeface="Malgun Gothic"/>
              </a:rPr>
              <a:t>차이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187952"/>
            <a:ext cx="192024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3000" b="1">
                <a:solidFill>
                  <a:srgbClr val="126FB5"/>
                </a:solidFill>
                <a:latin typeface="Malgun Gothic"/>
              </a:rPr>
              <a:t>+54개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736592"/>
            <a:ext cx="1920240" cy="29260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5B6676"/>
                </a:solidFill>
                <a:latin typeface="Malgun Gothic"/>
              </a:rPr>
              <a:t>체크 통과 격차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" y="6528816"/>
            <a:ext cx="713232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800" b="0">
                <a:solidFill>
                  <a:srgbClr val="5B6676"/>
                </a:solidFill>
                <a:latin typeface="Malgun Gothic"/>
              </a:rPr>
              <a:t>RAG 사용/미사용 추천 검증 비교 · 2026.07.10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37392" y="6528816"/>
            <a:ext cx="438912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2800" b="1">
                <a:solidFill>
                  <a:srgbClr val="141820"/>
                </a:solidFill>
                <a:latin typeface="Malgun Gothic"/>
              </a:rPr>
              <a:t>케이스별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04672"/>
            <a:ext cx="10698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무RAG는 대표 관광지 추천으로 상황별 제약을 놓친다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133856"/>
            <a:ext cx="11045952" cy="0"/>
          </a:xfrm>
          <a:prstGeom prst="line">
            <a:avLst/>
          </a:prstGeom>
          <a:ln w="12700">
            <a:solidFill>
              <a:srgbClr val="DB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3776" y="1417320"/>
          <a:ext cx="112014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749808"/>
                <a:gridCol w="786384"/>
                <a:gridCol w="5166360"/>
                <a:gridCol w="3447288"/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상황</a:t>
                      </a:r>
                    </a:p>
                  </a:txBody>
                  <a:tcPr marL="36576" marR="36576" marT="18288" marB="18288">
                    <a:solidFill>
                      <a:srgbClr val="0B3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RAG</a:t>
                      </a:r>
                    </a:p>
                  </a:txBody>
                  <a:tcPr marL="36576" marR="36576" marT="18288" marB="18288">
                    <a:solidFill>
                      <a:srgbClr val="0B3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무RAG</a:t>
                      </a:r>
                    </a:p>
                  </a:txBody>
                  <a:tcPr marL="36576" marR="36576" marT="18288" marB="18288">
                    <a:solidFill>
                      <a:srgbClr val="0B3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무RAG 추천 경로</a:t>
                      </a:r>
                    </a:p>
                  </a:txBody>
                  <a:tcPr marL="36576" marR="36576" marT="18288" marB="18288">
                    <a:solidFill>
                      <a:srgbClr val="0B3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주요 실패</a:t>
                      </a:r>
                    </a:p>
                  </a:txBody>
                  <a:tcPr marL="36576" marR="36576" marT="18288" marB="18288">
                    <a:solidFill>
                      <a:srgbClr val="0B3F7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회복 중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12/12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1/12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동문재래시장, 성산일출봉, 협재해수욕장, 애월 카페거리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총점 기준, 추천 장소 차단 여부, 도보 부담, +8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음식 제한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11/11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1/11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동문재래시장, 흑돼지거리, 서귀포매일올레시장, 애월 카페거리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총점 기준, 추천 장소 차단 여부, 도보 부담, +7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휠체어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11/11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1/11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성산일출봉, 우도, 동문재래시장, 협재해수욕장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총점 기준, 추천 장소 차단 여부, 도보 부담, +7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아이 동반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13/13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1/13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협재해수욕장, 성산일출봉, 동문재래시장, 우도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총점 기준, 추천 장소 차단 여부, 도보 부담, +9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날씨 민감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12/12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1/12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협재해수욕장, 성산일출봉, 새별오름, 우도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41820"/>
                          </a:solidFill>
                          <a:latin typeface="Malgun Gothic"/>
                        </a:rPr>
                        <a:t>총점 기준, 추천 장소 차단 여부, 도보 부담, +8</a:t>
                      </a:r>
                    </a:p>
                  </a:txBody>
                  <a:tcPr marL="36576" marR="36576" marT="18288" marB="18288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3504" y="6528816"/>
            <a:ext cx="713232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800" b="0">
                <a:solidFill>
                  <a:srgbClr val="5B6676"/>
                </a:solidFill>
                <a:latin typeface="Malgun Gothic"/>
              </a:rPr>
              <a:t>RAG 사용/미사용 추천 검증 비교 · 2026.07.10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28816"/>
            <a:ext cx="438912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2800" b="1">
                <a:solidFill>
                  <a:srgbClr val="141820"/>
                </a:solidFill>
                <a:latin typeface="Malgun Gothic"/>
              </a:rPr>
              <a:t>무RAG 실패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04672"/>
            <a:ext cx="10698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실패는 한두 장소의 문제가 아니라 근거 부재에서 반복된다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133856"/>
            <a:ext cx="11045952" cy="0"/>
          </a:xfrm>
          <a:prstGeom prst="line">
            <a:avLst/>
          </a:prstGeom>
          <a:ln w="12700">
            <a:solidFill>
              <a:srgbClr val="DB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481328"/>
            <a:ext cx="5047488" cy="96012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27632"/>
            <a:ext cx="4480560" cy="23774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400" b="1">
                <a:solidFill>
                  <a:srgbClr val="141820"/>
                </a:solidFill>
                <a:latin typeface="Malgun Gothic"/>
              </a:rPr>
              <a:t>점수/차단 검증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56816"/>
            <a:ext cx="45262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000" b="0">
                <a:solidFill>
                  <a:srgbClr val="5B6676"/>
                </a:solidFill>
                <a:latin typeface="Malgun Gothic"/>
              </a:rPr>
              <a:t>총점 기준과 차단 장소 여부를 재현 가능한 로그로 확인하기 어렵다.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81328"/>
            <a:ext cx="5047488" cy="960120"/>
          </a:xfrm>
          <a:prstGeom prst="roundRect">
            <a:avLst/>
          </a:prstGeom>
          <a:solidFill>
            <a:srgbClr val="FFF7DB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4480560" cy="23774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400" b="1">
                <a:solidFill>
                  <a:srgbClr val="141820"/>
                </a:solidFill>
                <a:latin typeface="Malgun Gothic"/>
              </a:rPr>
              <a:t>도보 부담 미반영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56816"/>
            <a:ext cx="45262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000" b="0">
                <a:solidFill>
                  <a:srgbClr val="5B6676"/>
                </a:solidFill>
                <a:latin typeface="Malgun Gothic"/>
              </a:rPr>
              <a:t>오름·해변·섬처럼 걷기 부담이 큰 장소가 상위 추천에 반복 포함된다.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5047488" cy="96012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980944"/>
            <a:ext cx="4480560" cy="23774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400" b="1">
                <a:solidFill>
                  <a:srgbClr val="141820"/>
                </a:solidFill>
                <a:latin typeface="Malgun Gothic"/>
              </a:rPr>
              <a:t>제외 규칙 위반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310128"/>
            <a:ext cx="45262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000" b="0">
                <a:solidFill>
                  <a:srgbClr val="5B6676"/>
                </a:solidFill>
                <a:latin typeface="Malgun Gothic"/>
              </a:rPr>
              <a:t>음식 제한, 날씨 민감, 회복기 조건에서 시장·식당·해안·오름이 남는다.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34640"/>
            <a:ext cx="5047488" cy="960120"/>
          </a:xfrm>
          <a:prstGeom prst="roundRect">
            <a:avLst/>
          </a:prstGeom>
          <a:solidFill>
            <a:srgbClr val="F2EF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980944"/>
            <a:ext cx="4480560" cy="23774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400" b="1">
                <a:solidFill>
                  <a:srgbClr val="141820"/>
                </a:solidFill>
                <a:latin typeface="Malgun Gothic"/>
              </a:rPr>
              <a:t>편의시설 근거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310128"/>
            <a:ext cx="45262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000" b="0">
                <a:solidFill>
                  <a:srgbClr val="5B6676"/>
                </a:solidFill>
                <a:latin typeface="Malgun Gothic"/>
              </a:rPr>
              <a:t>휠체어 접근, 장애인 화장실, 주차, 휴식 공간 상태를 출처로 대조할 수 없다.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87952"/>
            <a:ext cx="5047488" cy="960120"/>
          </a:xfrm>
          <a:prstGeom prst="roundRect">
            <a:avLst/>
          </a:prstGeom>
          <a:solidFill>
            <a:srgbClr val="E7F3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34256"/>
            <a:ext cx="4480560" cy="23774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400" b="1">
                <a:solidFill>
                  <a:srgbClr val="141820"/>
                </a:solidFill>
                <a:latin typeface="Malgun Gothic"/>
              </a:rPr>
              <a:t>방문 전 확인 누락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663440"/>
            <a:ext cx="45262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000" b="0">
                <a:solidFill>
                  <a:srgbClr val="5B6676"/>
                </a:solidFill>
                <a:latin typeface="Malgun Gothic"/>
              </a:rPr>
              <a:t>경사, 바닥, 주차, 강풍, 그늘, 식사 같은 필수 확인어가 누락된다.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5559552"/>
            <a:ext cx="6446520" cy="502920"/>
          </a:xfrm>
          <a:prstGeom prst="roundRect">
            <a:avLst/>
          </a:prstGeom>
          <a:solidFill>
            <a:srgbClr val="D14141"/>
          </a:solidFill>
          <a:ln w="12700">
            <a:solidFill>
              <a:srgbClr val="D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5705856"/>
            <a:ext cx="6035040" cy="16459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결론: 무RAG는 ‘그럴듯한 제주 코스’는 만들지만, 접근성 추천 검증은 통과하지 못한다.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6528816"/>
            <a:ext cx="713232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800" b="0">
                <a:solidFill>
                  <a:srgbClr val="5B6676"/>
                </a:solidFill>
                <a:latin typeface="Malgun Gothic"/>
              </a:rPr>
              <a:t>RAG 사용/미사용 추천 검증 비교 · 2026.07.10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6528816"/>
            <a:ext cx="438912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2800" b="1">
                <a:solidFill>
                  <a:srgbClr val="141820"/>
                </a:solidFill>
                <a:latin typeface="Malgun Gothic"/>
              </a:rPr>
              <a:t>RAG가 만든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04672"/>
            <a:ext cx="10698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추천 품질은 모델 문장보다 근거 연결과 검증 가능성에서 갈린다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133856"/>
            <a:ext cx="11045952" cy="0"/>
          </a:xfrm>
          <a:prstGeom prst="line">
            <a:avLst/>
          </a:prstGeom>
          <a:ln w="12700">
            <a:solidFill>
              <a:srgbClr val="DB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68096" y="1847088"/>
            <a:ext cx="224028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029968"/>
            <a:ext cx="402336" cy="40233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21408"/>
            <a:ext cx="402336" cy="1463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651760"/>
            <a:ext cx="17373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700" b="1">
                <a:solidFill>
                  <a:srgbClr val="141820"/>
                </a:solidFill>
                <a:latin typeface="Malgun Gothic"/>
              </a:rPr>
              <a:t>검색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3044952"/>
            <a:ext cx="1755648" cy="31089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0">
                <a:solidFill>
                  <a:srgbClr val="5B6676"/>
                </a:solidFill>
                <a:latin typeface="Malgun Gothic"/>
              </a:rPr>
              <a:t>장소 카드·공식 코스·검수 상태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08376" y="2798064"/>
            <a:ext cx="429768" cy="0"/>
          </a:xfrm>
          <a:prstGeom prst="line">
            <a:avLst/>
          </a:prstGeom>
          <a:ln w="25400">
            <a:solidFill>
              <a:srgbClr val="126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57015" y="1847088"/>
            <a:ext cx="224028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21607" y="2029968"/>
            <a:ext cx="402336" cy="40233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7" y="2121408"/>
            <a:ext cx="402336" cy="1463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5" y="2651760"/>
            <a:ext cx="17373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700" b="1">
                <a:solidFill>
                  <a:srgbClr val="141820"/>
                </a:solidFill>
                <a:latin typeface="Malgun Gothic"/>
              </a:rPr>
              <a:t>정책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5" y="3044952"/>
            <a:ext cx="1755648" cy="31089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0">
                <a:solidFill>
                  <a:srgbClr val="5B6676"/>
                </a:solidFill>
                <a:latin typeface="Malgun Gothic"/>
              </a:rPr>
              <a:t>제외/감점·상황별 필수어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97296" y="2798064"/>
            <a:ext cx="429768" cy="0"/>
          </a:xfrm>
          <a:prstGeom prst="line">
            <a:avLst/>
          </a:prstGeom>
          <a:ln w="25400">
            <a:solidFill>
              <a:srgbClr val="126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45936" y="1847088"/>
            <a:ext cx="224028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10527" y="2029968"/>
            <a:ext cx="402336" cy="40233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7" y="2121408"/>
            <a:ext cx="402336" cy="1463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2651760"/>
            <a:ext cx="17373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700" b="1">
                <a:solidFill>
                  <a:srgbClr val="141820"/>
                </a:solidFill>
                <a:latin typeface="Malgun Gothic"/>
              </a:rPr>
              <a:t>조립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3044952"/>
            <a:ext cx="1755648" cy="31089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0">
                <a:solidFill>
                  <a:srgbClr val="5B6676"/>
                </a:solidFill>
                <a:latin typeface="Malgun Gothic"/>
              </a:rPr>
              <a:t>추천 경로·근거·방문 전 확인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86216" y="2798064"/>
            <a:ext cx="429768" cy="0"/>
          </a:xfrm>
          <a:prstGeom prst="line">
            <a:avLst/>
          </a:prstGeom>
          <a:ln w="25400">
            <a:solidFill>
              <a:srgbClr val="126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34855" y="1847088"/>
            <a:ext cx="224028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99447" y="2029968"/>
            <a:ext cx="402336" cy="402336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9447" y="2121408"/>
            <a:ext cx="402336" cy="1463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5" y="2651760"/>
            <a:ext cx="173736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700" b="1">
                <a:solidFill>
                  <a:srgbClr val="141820"/>
                </a:solidFill>
                <a:latin typeface="Malgun Gothic"/>
              </a:rPr>
              <a:t>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5" y="3044952"/>
            <a:ext cx="1755648" cy="31089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000" b="0">
                <a:solidFill>
                  <a:srgbClr val="5B6676"/>
                </a:solidFill>
                <a:latin typeface="Malgun Gothic"/>
              </a:rPr>
              <a:t>59개 체크와 케이스별 리포트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4736592"/>
            <a:ext cx="10195560" cy="749808"/>
          </a:xfrm>
          <a:prstGeom prst="roundRect">
            <a:avLst/>
          </a:prstGeom>
          <a:solidFill>
            <a:srgbClr val="E7F8ED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61872" y="4956048"/>
            <a:ext cx="9692640" cy="2286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ctr"/>
            <a:r>
              <a:rPr sz="1500" b="1">
                <a:solidFill>
                  <a:srgbClr val="239758"/>
                </a:solidFill>
                <a:latin typeface="Malgun Gothic"/>
              </a:rPr>
              <a:t>사용자에게 중요한 것은 장소명보다 ‘왜 이 조건에서 가능한지’와 ‘무엇을 확인해야 하는지’다.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6528816"/>
            <a:ext cx="713232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800" b="0">
                <a:solidFill>
                  <a:srgbClr val="5B6676"/>
                </a:solidFill>
                <a:latin typeface="Malgun Gothic"/>
              </a:rPr>
              <a:t>RAG 사용/미사용 추천 검증 비교 · 2026.07.10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37392" y="6528816"/>
            <a:ext cx="438912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88136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2800" b="1">
                <a:solidFill>
                  <a:srgbClr val="141820"/>
                </a:solidFill>
                <a:latin typeface="Malgun Gothic"/>
              </a:rPr>
              <a:t>주의사항과 다음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04672"/>
            <a:ext cx="10698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5B6676"/>
                </a:solidFill>
                <a:latin typeface="Malgun Gothic"/>
              </a:rPr>
              <a:t>현재 비교는 통제 기준선이며, 운영 전 실제 무RAG 로그로 재검증한다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133856"/>
            <a:ext cx="11045952" cy="0"/>
          </a:xfrm>
          <a:prstGeom prst="line">
            <a:avLst/>
          </a:prstGeom>
          <a:ln w="12700">
            <a:solidFill>
              <a:srgbClr val="DB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481328"/>
            <a:ext cx="5166360" cy="4069080"/>
          </a:xfrm>
          <a:prstGeom prst="roundRect">
            <a:avLst/>
          </a:prstGeom>
          <a:solidFill>
            <a:srgbClr val="FFF7DB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55648"/>
            <a:ext cx="4480560" cy="3200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900" b="1">
                <a:solidFill>
                  <a:srgbClr val="141820"/>
                </a:solidFill>
                <a:latin typeface="Malgun Gothic"/>
              </a:rPr>
              <a:t>이번 자료의 해석 범위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450592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2359152"/>
            <a:ext cx="423367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141820"/>
                </a:solidFill>
                <a:latin typeface="Malgun Gothic"/>
              </a:rPr>
              <a:t>무RAG는 실제 운영 로그가 아닌 통제 기준선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907792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816352"/>
            <a:ext cx="423367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141820"/>
                </a:solidFill>
                <a:latin typeface="Malgun Gothic"/>
              </a:rPr>
              <a:t>비교 목적은 위험 패턴과 검증 항목을 드러내는 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364992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273552"/>
            <a:ext cx="423367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141820"/>
                </a:solidFill>
                <a:latin typeface="Malgun Gothic"/>
              </a:rPr>
              <a:t>실제 모델 응답을 수집하면 같은 채점기로 재평가 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1481328"/>
            <a:ext cx="5166360" cy="4069080"/>
          </a:xfrm>
          <a:prstGeom prst="roundRect">
            <a:avLst/>
          </a:prstGeom>
          <a:solidFill>
            <a:srgbClr val="E7F3FF"/>
          </a:solidFill>
          <a:ln w="1270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755648"/>
            <a:ext cx="4480560" cy="3200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900" b="1">
                <a:solidFill>
                  <a:srgbClr val="141820"/>
                </a:solidFill>
                <a:latin typeface="Malgun Gothic"/>
              </a:rPr>
              <a:t>다음 실험 체크리스트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47688" y="2450592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8855" y="2359152"/>
            <a:ext cx="423367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141820"/>
                </a:solidFill>
                <a:latin typeface="Malgun Gothic"/>
              </a:rPr>
              <a:t>동일 5개 입력으로 실제 무RAG 모델 응답 저장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7688" y="2880360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48855" y="2788920"/>
            <a:ext cx="423367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141820"/>
                </a:solidFill>
                <a:latin typeface="Malgun Gothic"/>
              </a:rPr>
              <a:t>장소명·편의시설·확인 항목 정답 대조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7688" y="3310128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8855" y="3218688"/>
            <a:ext cx="423367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141820"/>
                </a:solidFill>
                <a:latin typeface="Malgun Gothic"/>
              </a:rPr>
              <a:t>환각, 제외 규칙 위반, 출처 문구 유무 채점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7688" y="3739896"/>
            <a:ext cx="73152" cy="73152"/>
          </a:xfrm>
          <a:prstGeom prst="roundRect">
            <a:avLst/>
          </a:prstGeom>
          <a:solidFill>
            <a:srgbClr val="126FB5"/>
          </a:solidFill>
          <a:ln w="12700">
            <a:solidFill>
              <a:srgbClr val="12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5" y="3648456"/>
            <a:ext cx="4233672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1200" b="0">
                <a:solidFill>
                  <a:srgbClr val="141820"/>
                </a:solidFill>
                <a:latin typeface="Malgun Gothic"/>
              </a:rPr>
              <a:t>RAG 프롬프트/검색 결과를 버전 고정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6528816"/>
            <a:ext cx="713232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r>
              <a:rPr sz="800" b="0">
                <a:solidFill>
                  <a:srgbClr val="5B6676"/>
                </a:solidFill>
                <a:latin typeface="Malgun Gothic"/>
              </a:rPr>
              <a:t>RAG 사용/미사용 추천 검증 비교 · 2026.07.10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37392" y="6528816"/>
            <a:ext cx="438912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normAutofit/>
          </a:bodyPr>
          <a:lstStyle/>
          <a:p>
            <a:pPr algn="r"/>
            <a:r>
              <a:rPr sz="800" b="1">
                <a:solidFill>
                  <a:srgbClr val="126FB5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